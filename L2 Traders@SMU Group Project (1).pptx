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9"/>
  </p:notesMasterIdLst>
  <p:handoutMasterIdLst>
    <p:handoutMasterId r:id="rId30"/>
  </p:handoutMasterIdLst>
  <p:sldIdLst>
    <p:sldId id="278" r:id="rId8"/>
    <p:sldId id="265" r:id="rId9"/>
    <p:sldId id="309" r:id="rId10"/>
    <p:sldId id="310" r:id="rId11"/>
    <p:sldId id="317" r:id="rId12"/>
    <p:sldId id="318" r:id="rId13"/>
    <p:sldId id="319" r:id="rId14"/>
    <p:sldId id="320" r:id="rId15"/>
    <p:sldId id="311" r:id="rId16"/>
    <p:sldId id="312" r:id="rId17"/>
    <p:sldId id="324" r:id="rId18"/>
    <p:sldId id="322" r:id="rId19"/>
    <p:sldId id="313" r:id="rId20"/>
    <p:sldId id="323" r:id="rId21"/>
    <p:sldId id="314" r:id="rId22"/>
    <p:sldId id="326" r:id="rId23"/>
    <p:sldId id="327" r:id="rId24"/>
    <p:sldId id="328" r:id="rId25"/>
    <p:sldId id="315" r:id="rId26"/>
    <p:sldId id="264" r:id="rId27"/>
    <p:sldId id="329" r:id="rId2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542"/>
    <a:srgbClr val="215F9A"/>
    <a:srgbClr val="026A94"/>
    <a:srgbClr val="E8E8E8"/>
    <a:srgbClr val="A6A6A6"/>
    <a:srgbClr val="0C111D"/>
    <a:srgbClr val="667085"/>
    <a:srgbClr val="D3D3D3"/>
    <a:srgbClr val="2B3145"/>
    <a:srgbClr val="196B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A93291-7A10-9715-A392-763C5E96D028}" v="1545" dt="2025-04-29T22:38:57.326"/>
    <p1510:client id="{18F7F7C4-F82C-256A-993E-A18F31795DA9}" v="1448" dt="2025-04-30T19:17:18.098"/>
    <p1510:client id="{593D1A7B-7C59-C262-9A10-FCFF643B1B61}" v="385" dt="2025-04-30T13:08:36.503"/>
    <p1510:client id="{78818520-D030-3A38-5965-CD347EED692B}" v="46" dt="2025-04-30T11:50:48.795"/>
    <p1510:client id="{9E60664F-7B5F-5044-99F6-80901072F3A0}" v="2787" dt="2025-04-30T21:12:40.855"/>
    <p1510:client id="{A734245F-A345-75FF-1F11-03D55EA04C4F}" v="43" dt="2025-04-30T11:45:48.529"/>
    <p1510:client id="{B72FF416-01F5-86A1-2CBA-73975BE018AD}" v="283" dt="2025-04-29T23:11:10.449"/>
    <p1510:client id="{B87655AE-249D-7B07-12E8-63ADC64401F2}" v="128" dt="2025-04-30T21:09:13.305"/>
    <p1510:client id="{C877548F-6F7D-CAAC-3D17-46D40A682324}" v="4" dt="2025-04-30T11:46:12.473"/>
    <p1510:client id="{CC93F154-7D63-4C42-8D4F-07F6F3074C12}" v="1110" vWet="1111" dt="2025-04-30T15:08:00.90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4/30/2025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a:solidFill>
                  <a:srgbClr val="000000"/>
                </a:solidFill>
                <a:effectLst/>
                <a:latin typeface="Arial" panose="020B0604020202020204" pitchFamily="34" charset="0"/>
              </a:rPr>
              <a:t>Options are complex financial instruments that can provide leverage, hedge downside risk, and offer strategic flexibility. However, when using more advanced strategies like spreads or multi-legged combinations, it can be difficult to fully understand the risk and reward profile just by looking at an options chain.</a:t>
            </a:r>
            <a:endParaRPr lang="en-US" b="1">
              <a:effectLst/>
            </a:endParaRPr>
          </a:p>
          <a:p>
            <a:pPr rtl="0">
              <a:spcBef>
                <a:spcPts val="1200"/>
              </a:spcBef>
              <a:spcAft>
                <a:spcPts val="1200"/>
              </a:spcAft>
              <a:buNone/>
            </a:pPr>
            <a:r>
              <a:rPr lang="en-US" sz="1800" b="0" i="0" u="none" strike="noStrike">
                <a:solidFill>
                  <a:srgbClr val="000000"/>
                </a:solidFill>
                <a:effectLst/>
                <a:latin typeface="Arial" panose="020B0604020202020204" pitchFamily="34" charset="0"/>
              </a:rPr>
              <a:t>Visualization bridges that gap. Payoff diagrams and other visual tools clearly display where break-even points are, where profits start accumulating, and where exposure to losses increases. Instead of piecing together multiple premiums, strike prices, and expiration dates in your head, visualization lays it all out in one, easy-to-read graph.</a:t>
            </a:r>
            <a:endParaRPr lang="en-US" b="1">
              <a:effectLst/>
            </a:endParaRPr>
          </a:p>
          <a:p>
            <a:pPr rtl="0">
              <a:spcBef>
                <a:spcPts val="1200"/>
              </a:spcBef>
              <a:spcAft>
                <a:spcPts val="1200"/>
              </a:spcAft>
            </a:pPr>
            <a:r>
              <a:rPr lang="en-US" sz="1800" b="0" i="0" u="none" strike="noStrike">
                <a:solidFill>
                  <a:srgbClr val="000000"/>
                </a:solidFill>
                <a:effectLst/>
                <a:latin typeface="Arial" panose="020B0604020202020204" pitchFamily="34" charset="0"/>
              </a:rPr>
              <a:t>Historically, options traders on the floor relied on visualization to adjust positions quickly as market conditions shifted. Real-time access to how different price movements impacted their portfolio allowed them to execute trades with precision. Today, in quantitative finance, visualization is just as critical — allowing us to simulate, prototype, and optimize strategies with greater clarity. Without it, spotting key weaknesses or opportunities in a strategy becomes much harder, and decision-making slows down.</a:t>
            </a:r>
            <a:endParaRPr lang="en-US" b="1">
              <a:effectLst/>
            </a:endParaRPr>
          </a:p>
          <a:p>
            <a:endParaRPr lang="en-US"/>
          </a:p>
        </p:txBody>
      </p:sp>
    </p:spTree>
    <p:extLst>
      <p:ext uri="{BB962C8B-B14F-4D97-AF65-F5344CB8AC3E}">
        <p14:creationId xmlns:p14="http://schemas.microsoft.com/office/powerpoint/2010/main" val="2244038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err="1"/>
              <a:t>strike_price</a:t>
            </a:r>
            <a:r>
              <a:rPr lang="en-US" b="1" dirty="0"/>
              <a:t> - </a:t>
            </a:r>
            <a:r>
              <a:rPr lang="en-US" b="1" dirty="0" err="1"/>
              <a:t>underlying_price</a:t>
            </a:r>
            <a:r>
              <a:rPr lang="en-US" dirty="0"/>
              <a:t>: This calculates the </a:t>
            </a:r>
            <a:r>
              <a:rPr lang="en-US" i="1" dirty="0"/>
              <a:t>intrinsic value</a:t>
            </a:r>
            <a:r>
              <a:rPr lang="en-US" dirty="0"/>
              <a:t> of the put at expiration. If the strike price is higher than the underlying price, this value is positive (the option is "in the money" - the buyer could buy the asset at the lower market price and then sell it at the higher strike price). If the strike price is lower than or equal to the underlying price, the intrinsic value is zero or negative.</a:t>
            </a:r>
          </a:p>
        </p:txBody>
      </p:sp>
    </p:spTree>
    <p:extLst>
      <p:ext uri="{BB962C8B-B14F-4D97-AF65-F5344CB8AC3E}">
        <p14:creationId xmlns:p14="http://schemas.microsoft.com/office/powerpoint/2010/main" val="3084628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a:solidFill>
                  <a:srgbClr val="000000"/>
                </a:solidFill>
                <a:effectLst/>
                <a:latin typeface="Arial" panose="020B0604020202020204" pitchFamily="34" charset="0"/>
              </a:rPr>
              <a:t>Understanding the Greeks and implied volatility (IV) is fundamental to navigating options trading successfully. Each Greek measures a different type of risk sensitivity, helping traders anticipate how option prices will react under changing market conditions.</a:t>
            </a:r>
            <a:endParaRPr lang="en-US" b="1">
              <a:effectLst/>
            </a:endParaRPr>
          </a:p>
          <a:p>
            <a:pPr rtl="0">
              <a:spcBef>
                <a:spcPts val="1200"/>
              </a:spcBef>
              <a:spcAft>
                <a:spcPts val="1200"/>
              </a:spcAft>
              <a:buNone/>
            </a:pPr>
            <a:r>
              <a:rPr lang="en-US" sz="1800" b="0" i="0" u="none" strike="noStrike">
                <a:solidFill>
                  <a:srgbClr val="000000"/>
                </a:solidFill>
                <a:effectLst/>
                <a:latin typeface="Arial" panose="020B0604020202020204" pitchFamily="34" charset="0"/>
              </a:rPr>
              <a:t>Delta measures how much an option’s price is expected to move relative to changes in the underlying asset’s price. Gamma measures how quickly Delta itself changes as the underlying moves, helping traders manage their position’s sensitivity more accurately. Theta measures time decay — the loss of value as the option nears expiration — which can work against long option holders over time. Vega tracks how an option’s price changes relative to shifts in implied volatility, a key driver of option premiums that can boost or erode position value even if the underlying price remains steady.</a:t>
            </a:r>
            <a:endParaRPr lang="en-US" b="1">
              <a:effectLst/>
            </a:endParaRPr>
          </a:p>
          <a:p>
            <a:pPr rtl="0">
              <a:spcBef>
                <a:spcPts val="1200"/>
              </a:spcBef>
              <a:spcAft>
                <a:spcPts val="1200"/>
              </a:spcAft>
            </a:pPr>
            <a:r>
              <a:rPr lang="en-US" sz="1800" b="0" i="0" u="none" strike="noStrike">
                <a:solidFill>
                  <a:srgbClr val="000000"/>
                </a:solidFill>
                <a:effectLst/>
                <a:latin typeface="Arial" panose="020B0604020202020204" pitchFamily="34" charset="0"/>
              </a:rPr>
              <a:t>Implied volatility (IV) is especially important because it reflects the market's expectations for future volatility. In strategies like the straddle, IV plays a crucial role. A rise in IV can enhance the value of both calls and puts, even without a movement in the underlying asset. On the trading floor, clerks and traders carefully monitored volatility, knowing that shifts in IV could change the profitability of a trade faster than price movements alone. Today, with faster, automated markets, tracking volatility remains a cornerstone of effective options trading.</a:t>
            </a:r>
            <a:endParaRPr lang="en-US" b="1">
              <a:effectLst/>
            </a:endParaRPr>
          </a:p>
          <a:p>
            <a:endParaRPr lang="en-US"/>
          </a:p>
        </p:txBody>
      </p:sp>
    </p:spTree>
    <p:extLst>
      <p:ext uri="{BB962C8B-B14F-4D97-AF65-F5344CB8AC3E}">
        <p14:creationId xmlns:p14="http://schemas.microsoft.com/office/powerpoint/2010/main" val="1205599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a:solidFill>
                  <a:srgbClr val="000000"/>
                </a:solidFill>
                <a:effectLst/>
                <a:latin typeface="Arial" panose="020B0604020202020204" pitchFamily="34" charset="0"/>
              </a:rPr>
              <a:t>The straddle is a classic market-neutral strategy designed to profit from significant price movement, regardless of direction. It involves buying both a call and a put option at the same strike price and expiration date, giving the trader the ability to benefit if the underlying asset moves sharply up or down.</a:t>
            </a:r>
            <a:endParaRPr lang="en-US" b="1">
              <a:effectLst/>
            </a:endParaRPr>
          </a:p>
          <a:p>
            <a:pPr rtl="0">
              <a:spcBef>
                <a:spcPts val="1200"/>
              </a:spcBef>
              <a:spcAft>
                <a:spcPts val="1200"/>
              </a:spcAft>
              <a:buNone/>
            </a:pPr>
            <a:r>
              <a:rPr lang="en-US" sz="1800" b="0" i="0" u="none" strike="noStrike">
                <a:solidFill>
                  <a:srgbClr val="000000"/>
                </a:solidFill>
                <a:effectLst/>
                <a:latin typeface="Arial" panose="020B0604020202020204" pitchFamily="34" charset="0"/>
              </a:rPr>
              <a:t>The payoff structure of a straddle forms a “V” shape. The trader’s maximum loss is limited to the combined premiums paid for the call and put, while potential profits are theoretically unlimited if the underlying asset moves far enough in either direction. The further the price moves from the original strike price, the larger the potential gain.</a:t>
            </a:r>
            <a:endParaRPr lang="en-US" b="1">
              <a:effectLst/>
            </a:endParaRPr>
          </a:p>
          <a:p>
            <a:pPr rtl="0">
              <a:spcBef>
                <a:spcPts val="1200"/>
              </a:spcBef>
              <a:spcAft>
                <a:spcPts val="1200"/>
              </a:spcAft>
            </a:pPr>
            <a:r>
              <a:rPr lang="en-US" sz="1800" b="0" i="0" u="none" strike="noStrike">
                <a:solidFill>
                  <a:srgbClr val="000000"/>
                </a:solidFill>
                <a:effectLst/>
                <a:latin typeface="Arial" panose="020B0604020202020204" pitchFamily="34" charset="0"/>
              </a:rPr>
              <a:t>However, straddles come with important considerations. Time decay works against the position daily, meaning Theta plays a significant role in the strategy's performance. Additionally, implied volatility heavily influences the profitability of a straddle. A rise in IV after entering the position can significantly boost its value, while a fall can erode gains, even if the price moves as expected. Successfully managing a straddle involves balancing the expectation of volatility with an understanding of how time and price shifts affect the overall position.</a:t>
            </a:r>
            <a:endParaRPr lang="en-US" b="1">
              <a:effectLst/>
            </a:endParaRPr>
          </a:p>
          <a:p>
            <a:endParaRPr lang="en-US"/>
          </a:p>
        </p:txBody>
      </p:sp>
    </p:spTree>
    <p:extLst>
      <p:ext uri="{BB962C8B-B14F-4D97-AF65-F5344CB8AC3E}">
        <p14:creationId xmlns:p14="http://schemas.microsoft.com/office/powerpoint/2010/main" val="1852593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51BD-9493-5194-3ED4-991181F40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42BCE-1125-5B1B-8802-944B856F8B3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00FD19-724C-ADE0-848F-F191AD267827}"/>
              </a:ext>
            </a:extLst>
          </p:cNvPr>
          <p:cNvSpPr>
            <a:spLocks noGrp="1"/>
          </p:cNvSpPr>
          <p:nvPr>
            <p:ph type="body" idx="1"/>
          </p:nvPr>
        </p:nvSpPr>
        <p:spPr/>
        <p:txBody>
          <a:bodyPr/>
          <a:lstStyle/>
          <a:p>
            <a:pPr rtl="0">
              <a:spcBef>
                <a:spcPts val="1200"/>
              </a:spcBef>
              <a:spcAft>
                <a:spcPts val="1200"/>
              </a:spcAft>
              <a:buNone/>
            </a:pPr>
            <a:r>
              <a:rPr lang="en-US" sz="1800" b="0" i="0" u="none" strike="noStrike">
                <a:solidFill>
                  <a:srgbClr val="000000"/>
                </a:solidFill>
                <a:effectLst/>
                <a:latin typeface="Arial" panose="020B0604020202020204" pitchFamily="34" charset="0"/>
              </a:rPr>
              <a:t>The straddle is a classic market-neutral strategy designed to profit from significant price movement, regardless of direction. It involves buying both a call and a put option at the same strike price and expiration date, giving the trader the ability to benefit if the underlying asset moves sharply up or down.</a:t>
            </a:r>
            <a:endParaRPr lang="en-US" b="1">
              <a:effectLst/>
            </a:endParaRPr>
          </a:p>
          <a:p>
            <a:pPr rtl="0">
              <a:spcBef>
                <a:spcPts val="1200"/>
              </a:spcBef>
              <a:spcAft>
                <a:spcPts val="1200"/>
              </a:spcAft>
              <a:buNone/>
            </a:pPr>
            <a:r>
              <a:rPr lang="en-US" sz="1800" b="0" i="0" u="none" strike="noStrike">
                <a:solidFill>
                  <a:srgbClr val="000000"/>
                </a:solidFill>
                <a:effectLst/>
                <a:latin typeface="Arial" panose="020B0604020202020204" pitchFamily="34" charset="0"/>
              </a:rPr>
              <a:t>The payoff structure of a straddle forms a “V” shape. The trader’s maximum loss is limited to the combined premiums paid for the call and put, while potential profits are theoretically unlimited if the underlying asset moves far enough in either direction. The further the price moves from the original strike price, the larger the potential gain.</a:t>
            </a:r>
            <a:endParaRPr lang="en-US" b="1">
              <a:effectLst/>
            </a:endParaRPr>
          </a:p>
          <a:p>
            <a:pPr rtl="0">
              <a:spcBef>
                <a:spcPts val="1200"/>
              </a:spcBef>
              <a:spcAft>
                <a:spcPts val="1200"/>
              </a:spcAft>
            </a:pPr>
            <a:r>
              <a:rPr lang="en-US" sz="1800" b="0" i="0" u="none" strike="noStrike">
                <a:solidFill>
                  <a:srgbClr val="000000"/>
                </a:solidFill>
                <a:effectLst/>
                <a:latin typeface="Arial" panose="020B0604020202020204" pitchFamily="34" charset="0"/>
              </a:rPr>
              <a:t>However, straddles come with important considerations. Time decay works against the position daily, meaning Theta plays a significant role in the strategy's performance. Additionally, implied volatility heavily influences the profitability of a straddle. A rise in IV after entering the position can significantly boost its value, while a fall can erode gains, even if the price moves as expected. Successfully managing a straddle involves balancing the expectation of volatility with an understanding of how time and price shifts affect the overall position.</a:t>
            </a:r>
            <a:endParaRPr lang="en-US" b="1">
              <a:effectLst/>
            </a:endParaRPr>
          </a:p>
          <a:p>
            <a:endParaRPr lang="en-US"/>
          </a:p>
        </p:txBody>
      </p:sp>
    </p:spTree>
    <p:extLst>
      <p:ext uri="{BB962C8B-B14F-4D97-AF65-F5344CB8AC3E}">
        <p14:creationId xmlns:p14="http://schemas.microsoft.com/office/powerpoint/2010/main" val="1636624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err="1"/>
              <a:t>Te</a:t>
            </a:r>
            <a:r>
              <a:rPr lang="en-US"/>
              <a:t> t</a:t>
            </a:r>
          </a:p>
        </p:txBody>
      </p:sp>
    </p:spTree>
    <p:extLst>
      <p:ext uri="{BB962C8B-B14F-4D97-AF65-F5344CB8AC3E}">
        <p14:creationId xmlns:p14="http://schemas.microsoft.com/office/powerpoint/2010/main" val="1960499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Garamond" panose="02020404030301010803" pitchFamily="18" charset="0"/>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Garamond" panose="02020404030301010803" pitchFamily="18" charset="0"/>
                <a:ea typeface="Garamond" panose="02020404030301010803" pitchFamily="18"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Garamond" panose="02020404030301010803" pitchFamily="18" charset="0"/>
                <a:ea typeface="Garamond" panose="02020404030301010803" pitchFamily="18" charset="0"/>
                <a:cs typeface="Poppins Medium" pitchFamily="2" charset="77"/>
              </a:defRPr>
            </a:lvl1pPr>
            <a:lvl2pPr marL="0" indent="457200" defTabSz="825500">
              <a:lnSpc>
                <a:spcPct val="100000"/>
              </a:lnSpc>
              <a:spcBef>
                <a:spcPts val="0"/>
              </a:spcBef>
              <a:buSzTx/>
              <a:buNone/>
              <a:defRPr sz="5500" b="0" i="0">
                <a:solidFill>
                  <a:srgbClr val="D5D5D5"/>
                </a:solidFill>
                <a:latin typeface="Garamond" panose="02020404030301010803" pitchFamily="18" charset="0"/>
                <a:cs typeface="Poppins Medium" pitchFamily="2" charset="77"/>
              </a:defRPr>
            </a:lvl2pPr>
            <a:lvl3pPr marL="0" indent="914400" defTabSz="825500">
              <a:lnSpc>
                <a:spcPct val="100000"/>
              </a:lnSpc>
              <a:spcBef>
                <a:spcPts val="0"/>
              </a:spcBef>
              <a:buSzTx/>
              <a:buNone/>
              <a:defRPr sz="5500" b="0" i="0">
                <a:solidFill>
                  <a:srgbClr val="D5D5D5"/>
                </a:solidFill>
                <a:latin typeface="Garamond" panose="02020404030301010803" pitchFamily="18" charset="0"/>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4625-3E1C-8C86-5EED-C84DE5E65EC3}"/>
              </a:ext>
            </a:extLst>
          </p:cNvPr>
          <p:cNvSpPr>
            <a:spLocks noGrp="1"/>
          </p:cNvSpPr>
          <p:nvPr>
            <p:ph type="title"/>
          </p:nvPr>
        </p:nvSpPr>
        <p:spPr>
          <a:xfrm>
            <a:off x="914399" y="1371600"/>
            <a:ext cx="22570065" cy="1283634"/>
          </a:xfrm>
        </p:spPr>
        <p:txBody>
          <a:bodyPr/>
          <a:lstStyle>
            <a:lvl1pPr>
              <a:defRPr>
                <a:latin typeface="Garamond" panose="02020404030301010803"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76624A0-BC80-883D-1396-C854D34B4453}"/>
              </a:ext>
            </a:extLst>
          </p:cNvPr>
          <p:cNvSpPr>
            <a:spLocks noGrp="1"/>
          </p:cNvSpPr>
          <p:nvPr>
            <p:ph idx="1"/>
          </p:nvPr>
        </p:nvSpPr>
        <p:spPr>
          <a:xfrm>
            <a:off x="914399" y="3570362"/>
            <a:ext cx="22570065" cy="8783003"/>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4" name="Rectangle 3">
            <a:extLst>
              <a:ext uri="{FF2B5EF4-FFF2-40B4-BE49-F238E27FC236}">
                <a16:creationId xmlns:a16="http://schemas.microsoft.com/office/drawing/2014/main" id="{0AFB35B8-A3BD-EA6B-F942-E1C86CB63F82}"/>
              </a:ext>
            </a:extLst>
          </p:cNvPr>
          <p:cNvSpPr/>
          <p:nvPr userDrawn="1"/>
        </p:nvSpPr>
        <p:spPr>
          <a:xfrm>
            <a:off x="914398" y="2848368"/>
            <a:ext cx="22570066"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0451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4625-3E1C-8C86-5EED-C84DE5E65EC3}"/>
              </a:ext>
            </a:extLst>
          </p:cNvPr>
          <p:cNvSpPr>
            <a:spLocks noGrp="1"/>
          </p:cNvSpPr>
          <p:nvPr>
            <p:ph type="title"/>
          </p:nvPr>
        </p:nvSpPr>
        <p:spPr/>
        <p:txBody>
          <a:bodyPr/>
          <a:lstStyle>
            <a:lvl1pPr>
              <a:defRPr>
                <a:latin typeface="Garamond" panose="02020404030301010803"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76624A0-BC80-883D-1396-C854D34B4453}"/>
              </a:ext>
            </a:extLst>
          </p:cNvPr>
          <p:cNvSpPr>
            <a:spLocks noGrp="1"/>
          </p:cNvSpPr>
          <p:nvPr>
            <p:ph idx="1"/>
          </p:nvPr>
        </p:nvSpPr>
        <p:spPr>
          <a:xfrm>
            <a:off x="914401" y="3570362"/>
            <a:ext cx="11186159" cy="8783003"/>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4" name="Rectangle 3">
            <a:extLst>
              <a:ext uri="{FF2B5EF4-FFF2-40B4-BE49-F238E27FC236}">
                <a16:creationId xmlns:a16="http://schemas.microsoft.com/office/drawing/2014/main" id="{0AFB35B8-A3BD-EA6B-F942-E1C86CB63F82}"/>
              </a:ext>
            </a:extLst>
          </p:cNvPr>
          <p:cNvSpPr/>
          <p:nvPr userDrawn="1"/>
        </p:nvSpPr>
        <p:spPr>
          <a:xfrm>
            <a:off x="914400" y="2848368"/>
            <a:ext cx="11186160"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45757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4625-3E1C-8C86-5EED-C84DE5E65EC3}"/>
              </a:ext>
            </a:extLst>
          </p:cNvPr>
          <p:cNvSpPr>
            <a:spLocks noGrp="1"/>
          </p:cNvSpPr>
          <p:nvPr>
            <p:ph type="title"/>
          </p:nvPr>
        </p:nvSpPr>
        <p:spPr/>
        <p:txBody>
          <a:bodyPr/>
          <a:lstStyle>
            <a:lvl1pPr>
              <a:defRPr>
                <a:latin typeface="Garamond" panose="02020404030301010803"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76624A0-BC80-883D-1396-C854D34B4453}"/>
              </a:ext>
            </a:extLst>
          </p:cNvPr>
          <p:cNvSpPr>
            <a:spLocks noGrp="1"/>
          </p:cNvSpPr>
          <p:nvPr>
            <p:ph idx="1"/>
          </p:nvPr>
        </p:nvSpPr>
        <p:spPr>
          <a:xfrm>
            <a:off x="914401" y="3570361"/>
            <a:ext cx="11119104" cy="8783004"/>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4" name="Rectangle 3">
            <a:extLst>
              <a:ext uri="{FF2B5EF4-FFF2-40B4-BE49-F238E27FC236}">
                <a16:creationId xmlns:a16="http://schemas.microsoft.com/office/drawing/2014/main" id="{0AFB35B8-A3BD-EA6B-F942-E1C86CB63F82}"/>
              </a:ext>
            </a:extLst>
          </p:cNvPr>
          <p:cNvSpPr/>
          <p:nvPr userDrawn="1"/>
        </p:nvSpPr>
        <p:spPr>
          <a:xfrm>
            <a:off x="914400" y="2848368"/>
            <a:ext cx="11119104"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9E534AA0-C6F9-9FD5-010D-5D7A793B4A19}"/>
              </a:ext>
            </a:extLst>
          </p:cNvPr>
          <p:cNvSpPr>
            <a:spLocks noGrp="1"/>
          </p:cNvSpPr>
          <p:nvPr>
            <p:ph idx="10"/>
          </p:nvPr>
        </p:nvSpPr>
        <p:spPr>
          <a:xfrm>
            <a:off x="12328047" y="3570362"/>
            <a:ext cx="11119104" cy="3904487"/>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6" name="Rectangle 5">
            <a:extLst>
              <a:ext uri="{FF2B5EF4-FFF2-40B4-BE49-F238E27FC236}">
                <a16:creationId xmlns:a16="http://schemas.microsoft.com/office/drawing/2014/main" id="{6D3D32E7-C2C5-976E-935B-1A7928BFC69B}"/>
              </a:ext>
            </a:extLst>
          </p:cNvPr>
          <p:cNvSpPr/>
          <p:nvPr userDrawn="1"/>
        </p:nvSpPr>
        <p:spPr>
          <a:xfrm>
            <a:off x="12328046" y="2848368"/>
            <a:ext cx="11119104"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F74FDF97-A45B-3C33-C4A0-33AD6F8AD077}"/>
              </a:ext>
            </a:extLst>
          </p:cNvPr>
          <p:cNvSpPr>
            <a:spLocks noGrp="1"/>
          </p:cNvSpPr>
          <p:nvPr>
            <p:ph idx="12"/>
          </p:nvPr>
        </p:nvSpPr>
        <p:spPr>
          <a:xfrm>
            <a:off x="12328046" y="8448877"/>
            <a:ext cx="11119104" cy="3904488"/>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11" name="Rectangle 10">
            <a:extLst>
              <a:ext uri="{FF2B5EF4-FFF2-40B4-BE49-F238E27FC236}">
                <a16:creationId xmlns:a16="http://schemas.microsoft.com/office/drawing/2014/main" id="{D034ACBC-B460-3EB6-D1FE-086020DC4928}"/>
              </a:ext>
            </a:extLst>
          </p:cNvPr>
          <p:cNvSpPr/>
          <p:nvPr userDrawn="1"/>
        </p:nvSpPr>
        <p:spPr>
          <a:xfrm>
            <a:off x="12328046" y="7726882"/>
            <a:ext cx="11119104"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56939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4625-3E1C-8C86-5EED-C84DE5E65EC3}"/>
              </a:ext>
            </a:extLst>
          </p:cNvPr>
          <p:cNvSpPr>
            <a:spLocks noGrp="1"/>
          </p:cNvSpPr>
          <p:nvPr>
            <p:ph type="title"/>
          </p:nvPr>
        </p:nvSpPr>
        <p:spPr/>
        <p:txBody>
          <a:bodyPr/>
          <a:lstStyle>
            <a:lvl1pPr>
              <a:defRPr>
                <a:latin typeface="Garamond" panose="02020404030301010803"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76624A0-BC80-883D-1396-C854D34B4453}"/>
              </a:ext>
            </a:extLst>
          </p:cNvPr>
          <p:cNvSpPr>
            <a:spLocks noGrp="1"/>
          </p:cNvSpPr>
          <p:nvPr>
            <p:ph idx="1"/>
          </p:nvPr>
        </p:nvSpPr>
        <p:spPr>
          <a:xfrm>
            <a:off x="914399" y="3570361"/>
            <a:ext cx="7394715" cy="2340864"/>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4" name="Rectangle 3">
            <a:extLst>
              <a:ext uri="{FF2B5EF4-FFF2-40B4-BE49-F238E27FC236}">
                <a16:creationId xmlns:a16="http://schemas.microsoft.com/office/drawing/2014/main" id="{0AFB35B8-A3BD-EA6B-F942-E1C86CB63F82}"/>
              </a:ext>
            </a:extLst>
          </p:cNvPr>
          <p:cNvSpPr/>
          <p:nvPr userDrawn="1"/>
        </p:nvSpPr>
        <p:spPr>
          <a:xfrm>
            <a:off x="914400" y="2848367"/>
            <a:ext cx="7394713"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C22B3D99-482E-AD94-432B-BBC0A93862FD}"/>
              </a:ext>
            </a:extLst>
          </p:cNvPr>
          <p:cNvSpPr>
            <a:spLocks noGrp="1"/>
          </p:cNvSpPr>
          <p:nvPr>
            <p:ph idx="10"/>
          </p:nvPr>
        </p:nvSpPr>
        <p:spPr>
          <a:xfrm>
            <a:off x="914399" y="10124997"/>
            <a:ext cx="7394711" cy="2340864"/>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7" name="Rectangle 6">
            <a:extLst>
              <a:ext uri="{FF2B5EF4-FFF2-40B4-BE49-F238E27FC236}">
                <a16:creationId xmlns:a16="http://schemas.microsoft.com/office/drawing/2014/main" id="{2EEC6840-B255-9F9F-07F5-C852C568A63C}"/>
              </a:ext>
            </a:extLst>
          </p:cNvPr>
          <p:cNvSpPr/>
          <p:nvPr userDrawn="1"/>
        </p:nvSpPr>
        <p:spPr>
          <a:xfrm>
            <a:off x="914398" y="9386565"/>
            <a:ext cx="7394712"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F32A6D54-B646-438B-77ED-BC6DE90BA81B}"/>
              </a:ext>
            </a:extLst>
          </p:cNvPr>
          <p:cNvSpPr>
            <a:spLocks noGrp="1"/>
          </p:cNvSpPr>
          <p:nvPr>
            <p:ph idx="11"/>
          </p:nvPr>
        </p:nvSpPr>
        <p:spPr>
          <a:xfrm>
            <a:off x="914398" y="6839383"/>
            <a:ext cx="7394711" cy="2340864"/>
          </a:xfrm>
          <a:solidFill>
            <a:srgbClr val="E8E8E8"/>
          </a:solidFill>
          <a:ln w="19050">
            <a:solidFill>
              <a:srgbClr val="0C1542"/>
            </a:solidFill>
          </a:ln>
        </p:spPr>
        <p:style>
          <a:lnRef idx="1">
            <a:schemeClr val="accent1"/>
          </a:lnRef>
          <a:fillRef idx="2">
            <a:schemeClr val="accent1"/>
          </a:fillRef>
          <a:effectRef idx="1">
            <a:schemeClr val="accent1"/>
          </a:effectRef>
          <a:fontRef idx="minor">
            <a:schemeClr val="dk1"/>
          </a:fontRef>
        </p:style>
        <p:txBody>
          <a:bodyPr>
            <a:normAutofit/>
          </a:bodyPr>
          <a:lstStyle/>
          <a:p>
            <a:pPr marL="285750" indent="-285750">
              <a:lnSpc>
                <a:spcPts val="4224"/>
              </a:lnSpc>
              <a:buFont typeface="Arial" panose="020B0604020202020204" pitchFamily="34" charset="0"/>
              <a:buChar char="•"/>
            </a:pPr>
            <a:endParaRPr lang="en-US" sz="2800">
              <a:latin typeface="Garamond" panose="02020404030301010803" pitchFamily="18" charset="0"/>
            </a:endParaRPr>
          </a:p>
        </p:txBody>
      </p:sp>
      <p:sp>
        <p:nvSpPr>
          <p:cNvPr id="10" name="Rectangle 9">
            <a:extLst>
              <a:ext uri="{FF2B5EF4-FFF2-40B4-BE49-F238E27FC236}">
                <a16:creationId xmlns:a16="http://schemas.microsoft.com/office/drawing/2014/main" id="{AA707C60-4F68-66AE-AFE3-25639F4DBC91}"/>
              </a:ext>
            </a:extLst>
          </p:cNvPr>
          <p:cNvSpPr/>
          <p:nvPr userDrawn="1"/>
        </p:nvSpPr>
        <p:spPr>
          <a:xfrm>
            <a:off x="914398" y="6103961"/>
            <a:ext cx="7394712" cy="721995"/>
          </a:xfrm>
          <a:prstGeom prst="rect">
            <a:avLst/>
          </a:prstGeom>
          <a:solidFill>
            <a:srgbClr val="0C1543"/>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nSpc>
                <a:spcPct val="115000"/>
              </a:lnSpc>
              <a:spcAft>
                <a:spcPts val="800"/>
              </a:spcAft>
              <a:buSzPts val="1000"/>
              <a:tabLst>
                <a:tab pos="914400" algn="l"/>
              </a:tabLst>
            </a:pPr>
            <a:endParaRPr lang="en-US" sz="3200" kern="100">
              <a:effectLst/>
              <a:latin typeface="Garamond" panose="02020404030301010803"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26597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4625-3E1C-8C86-5EED-C84DE5E65EC3}"/>
              </a:ext>
            </a:extLst>
          </p:cNvPr>
          <p:cNvSpPr>
            <a:spLocks noGrp="1"/>
          </p:cNvSpPr>
          <p:nvPr>
            <p:ph type="title"/>
          </p:nvPr>
        </p:nvSpPr>
        <p:spPr/>
        <p:txBody>
          <a:bodyPr/>
          <a:lstStyle>
            <a:lvl1pPr>
              <a:defRPr>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3811466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409118" y="3992138"/>
            <a:ext cx="15565764" cy="2148008"/>
          </a:xfrm>
          <a:prstGeom prst="rect">
            <a:avLst/>
          </a:prstGeom>
        </p:spPr>
      </p:pic>
      <p:sp>
        <p:nvSpPr>
          <p:cNvPr id="4" name="Presentation Title">
            <a:extLst>
              <a:ext uri="{FF2B5EF4-FFF2-40B4-BE49-F238E27FC236}">
                <a16:creationId xmlns:a16="http://schemas.microsoft.com/office/drawing/2014/main" id="{EEE3302D-89FC-F4BF-2EA0-9CF52683F5AB}"/>
              </a:ext>
            </a:extLst>
          </p:cNvPr>
          <p:cNvSpPr txBox="1">
            <a:spLocks noGrp="1"/>
          </p:cNvSpPr>
          <p:nvPr>
            <p:ph type="title" hasCustomPrompt="1"/>
          </p:nvPr>
        </p:nvSpPr>
        <p:spPr>
          <a:xfrm>
            <a:off x="1206496" y="3777647"/>
            <a:ext cx="22525374" cy="4648201"/>
          </a:xfrm>
          <a:prstGeom prst="rect">
            <a:avLst/>
          </a:prstGeom>
        </p:spPr>
        <p:txBody>
          <a:bodyPr lIns="0" anchor="b"/>
          <a:lstStyle>
            <a:lvl1pPr algn="ctr">
              <a:defRPr sz="11600" b="1" i="0" spc="-232">
                <a:solidFill>
                  <a:schemeClr val="bg1"/>
                </a:solidFill>
                <a:latin typeface="Garamond" panose="02020404030301010803" pitchFamily="18" charset="0"/>
                <a:ea typeface="Garamond" panose="02020404030301010803" pitchFamily="18" charset="0"/>
              </a:defRPr>
            </a:lvl1pPr>
          </a:lstStyle>
          <a:p>
            <a:r>
              <a:rPr lang="en-US"/>
              <a:t>Q&amp;A</a:t>
            </a:r>
            <a:endParaRPr/>
          </a:p>
        </p:txBody>
      </p:sp>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4.svg"/><Relationship Id="rId4" Type="http://schemas.openxmlformats.org/officeDocument/2006/relationships/slideLayout" Target="../slideLayouts/slideLayout5.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9">
            <a:extLst>
              <a:ext uri="{96DAC541-7B7A-43D3-8B79-37D633B846F1}">
                <asvg:svgBlip xmlns:asvg="http://schemas.microsoft.com/office/drawing/2016/SVG/main" r:embed="rId10"/>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chemeClr val="tx1"/>
                </a:solidFill>
                <a:latin typeface="Garamond" panose="02020404030301010803" pitchFamily="18" charset="0"/>
              </a:rPr>
              <a:t> © 2025 </a:t>
            </a:r>
            <a:r>
              <a:rPr lang="en-US" sz="1200" err="1">
                <a:solidFill>
                  <a:schemeClr val="tx1"/>
                </a:solidFill>
                <a:latin typeface="Garamond" panose="02020404030301010803" pitchFamily="18" charset="0"/>
              </a:rPr>
              <a:t>Traders@SMU</a:t>
            </a:r>
            <a:r>
              <a:rPr lang="en-US" sz="1200">
                <a:solidFill>
                  <a:schemeClr val="tx1"/>
                </a:solidFill>
                <a:latin typeface="Garamond" panose="02020404030301010803" pitchFamily="18" charset="0"/>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88" r:id="rId3"/>
    <p:sldLayoutId id="2147483707" r:id="rId4"/>
    <p:sldLayoutId id="2147483690" r:id="rId5"/>
    <p:sldLayoutId id="2147483708" r:id="rId6"/>
    <p:sldLayoutId id="2147483687" r:id="rId7"/>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hyperlink" Target="https://www.pyquantnews.com/topics/options-trading-with-python" TargetMode="External"/><Relationship Id="rId3" Type="http://schemas.openxmlformats.org/officeDocument/2006/relationships/hyperlink" Target="https://www.investopedia.com/terms/p/putoption.asp" TargetMode="External"/><Relationship Id="rId7" Type="http://schemas.openxmlformats.org/officeDocument/2006/relationships/hyperlink" Target="https://www.euronext.com/en/news/what-long-straddle" TargetMode="External"/><Relationship Id="rId2" Type="http://schemas.openxmlformats.org/officeDocument/2006/relationships/hyperlink" Target="https://www.investopedia.com/terms/c/calloption.asp" TargetMode="External"/><Relationship Id="rId1" Type="http://schemas.openxmlformats.org/officeDocument/2006/relationships/slideLayout" Target="../slideLayouts/slideLayout2.xml"/><Relationship Id="rId6" Type="http://schemas.openxmlformats.org/officeDocument/2006/relationships/hyperlink" Target="https://www.investopedia.com/terms/s/straddle.asp" TargetMode="External"/><Relationship Id="rId5" Type="http://schemas.openxmlformats.org/officeDocument/2006/relationships/hyperlink" Target="https://www.tastylive.com/concepts-strategies/vertical-spread" TargetMode="External"/><Relationship Id="rId4" Type="http://schemas.openxmlformats.org/officeDocument/2006/relationships/hyperlink" Target="https://www.investopedia.com/terms/c/coveredcall.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65272-B427-C3B2-BCA4-56F952DB8AED}"/>
              </a:ext>
            </a:extLst>
          </p:cNvPr>
          <p:cNvSpPr>
            <a:spLocks noGrp="1"/>
          </p:cNvSpPr>
          <p:nvPr>
            <p:ph type="body" sz="quarter" idx="21"/>
          </p:nvPr>
        </p:nvSpPr>
        <p:spPr/>
        <p:txBody>
          <a:bodyPr>
            <a:normAutofit lnSpcReduction="10000"/>
          </a:bodyPr>
          <a:lstStyle/>
          <a:p>
            <a:r>
              <a:rPr lang="en-US"/>
              <a:t>Vivaan Gupta, Grant Simon, and Dylan Terayama April 2025</a:t>
            </a:r>
          </a:p>
        </p:txBody>
      </p:sp>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p:txBody>
          <a:bodyPr/>
          <a:lstStyle/>
          <a:p>
            <a:r>
              <a:rPr lang="en-US"/>
              <a:t>Options Payoff Visualization Tool</a:t>
            </a:r>
          </a:p>
        </p:txBody>
      </p:sp>
      <p:sp>
        <p:nvSpPr>
          <p:cNvPr id="4" name="Text Placeholder 3">
            <a:extLst>
              <a:ext uri="{FF2B5EF4-FFF2-40B4-BE49-F238E27FC236}">
                <a16:creationId xmlns:a16="http://schemas.microsoft.com/office/drawing/2014/main" id="{BE8DB9D5-247C-DD66-A9E9-DED0842B7033}"/>
              </a:ext>
            </a:extLst>
          </p:cNvPr>
          <p:cNvSpPr>
            <a:spLocks noGrp="1"/>
          </p:cNvSpPr>
          <p:nvPr>
            <p:ph type="body" sz="quarter" idx="1"/>
          </p:nvPr>
        </p:nvSpPr>
        <p:spPr/>
        <p:txBody>
          <a:bodyPr/>
          <a:lstStyle/>
          <a:p>
            <a:r>
              <a:rPr lang="en-US"/>
              <a:t>Associate Quant Presentation</a:t>
            </a:r>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0120-5D7C-AED5-C808-D154FBBB509D}"/>
              </a:ext>
            </a:extLst>
          </p:cNvPr>
          <p:cNvSpPr>
            <a:spLocks noGrp="1"/>
          </p:cNvSpPr>
          <p:nvPr>
            <p:ph type="title"/>
          </p:nvPr>
        </p:nvSpPr>
        <p:spPr>
          <a:xfrm>
            <a:off x="897190" y="1366729"/>
            <a:ext cx="10381129" cy="2286000"/>
          </a:xfrm>
        </p:spPr>
        <p:txBody>
          <a:bodyPr/>
          <a:lstStyle/>
          <a:p>
            <a:r>
              <a:rPr lang="en-US">
                <a:latin typeface="Garamond" panose="02020404030301010803" pitchFamily="18" charset="0"/>
              </a:rPr>
              <a:t>Agenda</a:t>
            </a:r>
          </a:p>
        </p:txBody>
      </p:sp>
      <p:sp>
        <p:nvSpPr>
          <p:cNvPr id="3" name="Content Placeholder 2">
            <a:extLst>
              <a:ext uri="{FF2B5EF4-FFF2-40B4-BE49-F238E27FC236}">
                <a16:creationId xmlns:a16="http://schemas.microsoft.com/office/drawing/2014/main" id="{67376405-A736-F70F-6BFC-69505CA7DFE0}"/>
              </a:ext>
            </a:extLst>
          </p:cNvPr>
          <p:cNvSpPr>
            <a:spLocks noGrp="1"/>
          </p:cNvSpPr>
          <p:nvPr>
            <p:ph type="body" sz="quarter" idx="15"/>
          </p:nvPr>
        </p:nvSpPr>
        <p:spPr>
          <a:xfrm>
            <a:off x="914400" y="3054928"/>
            <a:ext cx="9878436" cy="8456220"/>
          </a:xfr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a:bodyPr>
          <a:lstStyle/>
          <a:p>
            <a:pPr>
              <a:buAutoNum type="arabicPeriod"/>
            </a:pPr>
            <a:r>
              <a:rPr lang="en-US" sz="6000">
                <a:latin typeface="Garamond"/>
              </a:rPr>
              <a:t> Why Visualize</a:t>
            </a:r>
            <a:endParaRPr lang="en-US"/>
          </a:p>
          <a:p>
            <a:pPr marL="0" indent="0">
              <a:buNone/>
            </a:pPr>
            <a:r>
              <a:rPr lang="en-US" sz="6000">
                <a:latin typeface="Garamond"/>
              </a:rPr>
              <a:t>2. Calls/Puts</a:t>
            </a:r>
          </a:p>
          <a:p>
            <a:pPr marL="0" indent="0">
              <a:buNone/>
            </a:pPr>
            <a:r>
              <a:rPr lang="en-US" sz="6000">
                <a:latin typeface="Garamond"/>
              </a:rPr>
              <a:t>3. Option Greeks</a:t>
            </a:r>
          </a:p>
          <a:p>
            <a:pPr marL="0" indent="0">
              <a:buNone/>
            </a:pPr>
            <a:r>
              <a:rPr lang="en-US" sz="6000">
                <a:latin typeface="Garamond"/>
              </a:rPr>
              <a:t>4. Option Strategy &amp; Code</a:t>
            </a:r>
          </a:p>
          <a:p>
            <a:pPr marL="0" indent="0">
              <a:buNone/>
            </a:pPr>
            <a:r>
              <a:rPr lang="en-US" sz="6000">
                <a:latin typeface="Garamond"/>
              </a:rPr>
              <a:t>5. Improvements &amp; Limitations</a:t>
            </a:r>
          </a:p>
        </p:txBody>
      </p:sp>
      <p:sp>
        <p:nvSpPr>
          <p:cNvPr id="10" name="Text Placeholder 3">
            <a:extLst>
              <a:ext uri="{FF2B5EF4-FFF2-40B4-BE49-F238E27FC236}">
                <a16:creationId xmlns:a16="http://schemas.microsoft.com/office/drawing/2014/main" id="{54C32475-107A-04EF-B98B-CD6AA26D674F}"/>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150582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6A817-A21F-B98B-6FBA-E724A46FC1BA}"/>
              </a:ext>
            </a:extLst>
          </p:cNvPr>
          <p:cNvSpPr>
            <a:spLocks noGrp="1"/>
          </p:cNvSpPr>
          <p:nvPr>
            <p:ph type="title"/>
          </p:nvPr>
        </p:nvSpPr>
        <p:spPr/>
        <p:txBody>
          <a:bodyPr/>
          <a:lstStyle/>
          <a:p>
            <a:r>
              <a:rPr lang="en-US"/>
              <a:t>Introduction &amp; Objective</a:t>
            </a:r>
          </a:p>
        </p:txBody>
      </p:sp>
      <p:sp>
        <p:nvSpPr>
          <p:cNvPr id="3" name="Content Placeholder 2">
            <a:extLst>
              <a:ext uri="{FF2B5EF4-FFF2-40B4-BE49-F238E27FC236}">
                <a16:creationId xmlns:a16="http://schemas.microsoft.com/office/drawing/2014/main" id="{E1F6AB97-D987-044B-8F66-743240239D63}"/>
              </a:ext>
            </a:extLst>
          </p:cNvPr>
          <p:cNvSpPr>
            <a:spLocks noGrp="1"/>
          </p:cNvSpPr>
          <p:nvPr>
            <p:ph idx="1"/>
          </p:nvPr>
        </p:nvSpPr>
        <p:spPr/>
        <p:txBody>
          <a:bodyPr>
            <a:normAutofit/>
          </a:bodyPr>
          <a:lstStyle/>
          <a:p>
            <a:pPr marL="285750" indent="-285750">
              <a:lnSpc>
                <a:spcPts val="4224"/>
              </a:lnSpc>
              <a:buFont typeface="Arial" panose="020B0604020202020204" pitchFamily="34" charset="0"/>
              <a:buChar char="•"/>
            </a:pPr>
            <a:r>
              <a:rPr lang="en-US" spc="96">
                <a:solidFill>
                  <a:srgbClr val="000000"/>
                </a:solidFill>
                <a:latin typeface="Garamond" panose="02020404030301010803" pitchFamily="18" charset="0"/>
                <a:ea typeface="Open Sans"/>
                <a:cs typeface="Open Sans"/>
                <a:sym typeface="Open Sans"/>
              </a:rPr>
              <a:t>Options are financial derivatives that give the buyer the right, but not the obligation, to buy or sell an underlying asset at an agreed-upon price in the future. </a:t>
            </a:r>
          </a:p>
          <a:p>
            <a:pPr marL="285750" indent="-285750" algn="just">
              <a:lnSpc>
                <a:spcPts val="4224"/>
              </a:lnSpc>
              <a:buFont typeface="Arial" panose="020B0604020202020204" pitchFamily="34" charset="0"/>
              <a:buChar char="•"/>
            </a:pPr>
            <a:r>
              <a:rPr lang="en-US" spc="96">
                <a:solidFill>
                  <a:srgbClr val="000000"/>
                </a:solidFill>
                <a:latin typeface="Garamond" panose="02020404030301010803" pitchFamily="18" charset="0"/>
                <a:ea typeface="Open Sans"/>
                <a:cs typeface="Open Sans"/>
                <a:sym typeface="Open Sans"/>
              </a:rPr>
              <a:t>Types:</a:t>
            </a:r>
          </a:p>
          <a:p>
            <a:pPr marL="742950" lvl="1" indent="-285750" algn="just">
              <a:lnSpc>
                <a:spcPts val="4224"/>
              </a:lnSpc>
            </a:pPr>
            <a:r>
              <a:rPr lang="en-US" sz="2800" spc="96">
                <a:solidFill>
                  <a:srgbClr val="000000"/>
                </a:solidFill>
                <a:latin typeface="Garamond" panose="02020404030301010803" pitchFamily="18" charset="0"/>
                <a:ea typeface="Open Sans"/>
                <a:cs typeface="Open Sans"/>
                <a:sym typeface="Open Sans"/>
              </a:rPr>
              <a:t>Call</a:t>
            </a:r>
          </a:p>
          <a:p>
            <a:pPr marL="742950" lvl="1" indent="-285750" algn="just">
              <a:lnSpc>
                <a:spcPts val="4224"/>
              </a:lnSpc>
            </a:pPr>
            <a:r>
              <a:rPr lang="en-US" sz="2800" spc="96">
                <a:solidFill>
                  <a:srgbClr val="000000"/>
                </a:solidFill>
                <a:latin typeface="Garamond" panose="02020404030301010803" pitchFamily="18" charset="0"/>
                <a:ea typeface="Open Sans"/>
                <a:cs typeface="Open Sans"/>
                <a:sym typeface="Open Sans"/>
              </a:rPr>
              <a:t>Put</a:t>
            </a:r>
          </a:p>
          <a:p>
            <a:pPr marL="285750" indent="-285750" algn="just">
              <a:lnSpc>
                <a:spcPts val="4224"/>
              </a:lnSpc>
            </a:pPr>
            <a:r>
              <a:rPr lang="en-US" spc="96">
                <a:solidFill>
                  <a:srgbClr val="000000"/>
                </a:solidFill>
                <a:latin typeface="Garamond" panose="02020404030301010803" pitchFamily="18" charset="0"/>
                <a:ea typeface="Open Sans"/>
                <a:cs typeface="Open Sans"/>
                <a:sym typeface="Open Sans"/>
              </a:rPr>
              <a:t>Allow for investors to hedge portfolios</a:t>
            </a:r>
          </a:p>
          <a:p>
            <a:pPr marL="285750" indent="-285750" algn="just">
              <a:lnSpc>
                <a:spcPts val="4224"/>
              </a:lnSpc>
            </a:pPr>
            <a:r>
              <a:rPr lang="en-US" spc="96">
                <a:solidFill>
                  <a:srgbClr val="000000"/>
                </a:solidFill>
                <a:latin typeface="Garamond" panose="02020404030301010803" pitchFamily="18" charset="0"/>
                <a:ea typeface="Open Sans"/>
                <a:cs typeface="Open Sans"/>
                <a:sym typeface="Open Sans"/>
              </a:rPr>
              <a:t>Objective:</a:t>
            </a:r>
          </a:p>
          <a:p>
            <a:pPr marL="742950" lvl="1" indent="-285750" algn="just">
              <a:lnSpc>
                <a:spcPts val="4224"/>
              </a:lnSpc>
            </a:pPr>
            <a:r>
              <a:rPr lang="en-US" sz="2800">
                <a:latin typeface="Garamond" panose="02020404030301010803" pitchFamily="18" charset="0"/>
              </a:rPr>
              <a:t>Develop a Python tool that takes options parameters for common strategies and generates a payoff diagram at expiration.</a:t>
            </a:r>
          </a:p>
          <a:p>
            <a:endParaRPr lang="en-US"/>
          </a:p>
        </p:txBody>
      </p:sp>
      <p:sp>
        <p:nvSpPr>
          <p:cNvPr id="6" name="Rectangle 5">
            <a:extLst>
              <a:ext uri="{FF2B5EF4-FFF2-40B4-BE49-F238E27FC236}">
                <a16:creationId xmlns:a16="http://schemas.microsoft.com/office/drawing/2014/main" id="{DBCC068D-C53B-DDF4-EDDD-20A780576095}"/>
              </a:ext>
            </a:extLst>
          </p:cNvPr>
          <p:cNvSpPr/>
          <p:nvPr/>
        </p:nvSpPr>
        <p:spPr>
          <a:xfrm>
            <a:off x="914399" y="2832410"/>
            <a:ext cx="22570065"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Overview</a:t>
            </a:r>
          </a:p>
        </p:txBody>
      </p:sp>
      <p:sp>
        <p:nvSpPr>
          <p:cNvPr id="8" name="Text Placeholder 3">
            <a:extLst>
              <a:ext uri="{FF2B5EF4-FFF2-40B4-BE49-F238E27FC236}">
                <a16:creationId xmlns:a16="http://schemas.microsoft.com/office/drawing/2014/main" id="{7F0E6456-755D-F0F4-AA17-8F12DBEA319C}"/>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794558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2FDD-F334-F39A-C60C-413DEC3BF4B1}"/>
              </a:ext>
            </a:extLst>
          </p:cNvPr>
          <p:cNvSpPr>
            <a:spLocks noGrp="1"/>
          </p:cNvSpPr>
          <p:nvPr>
            <p:ph type="title"/>
          </p:nvPr>
        </p:nvSpPr>
        <p:spPr/>
        <p:txBody>
          <a:bodyPr/>
          <a:lstStyle/>
          <a:p>
            <a:r>
              <a:rPr lang="en-US"/>
              <a:t>The Importance of Visualization</a:t>
            </a:r>
          </a:p>
        </p:txBody>
      </p:sp>
      <p:sp>
        <p:nvSpPr>
          <p:cNvPr id="3" name="Content Placeholder 2">
            <a:extLst>
              <a:ext uri="{FF2B5EF4-FFF2-40B4-BE49-F238E27FC236}">
                <a16:creationId xmlns:a16="http://schemas.microsoft.com/office/drawing/2014/main" id="{D7AF7E1A-652E-1E3C-1704-EBDC5DDE6558}"/>
              </a:ext>
            </a:extLst>
          </p:cNvPr>
          <p:cNvSpPr>
            <a:spLocks noGrp="1"/>
          </p:cNvSpPr>
          <p:nvPr>
            <p:ph idx="1"/>
          </p:nvPr>
        </p:nvSpPr>
        <p:spPr>
          <a:xfrm>
            <a:off x="914401" y="3496382"/>
            <a:ext cx="11230547" cy="4048246"/>
          </a:xfrm>
        </p:spPr>
        <p:txBody>
          <a:bodyPr>
            <a:normAutofit/>
          </a:bodyPr>
          <a:lstStyle/>
          <a:p>
            <a:pPr marL="285750" indent="-285750" algn="just">
              <a:lnSpc>
                <a:spcPts val="4224"/>
              </a:lnSpc>
              <a:buFont typeface="Arial" panose="020B0604020202020204" pitchFamily="34" charset="0"/>
              <a:buChar char="•"/>
            </a:pPr>
            <a:r>
              <a:rPr lang="en-US" spc="96">
                <a:solidFill>
                  <a:srgbClr val="000000"/>
                </a:solidFill>
                <a:latin typeface="Garamond" panose="02020404030301010803" pitchFamily="18" charset="0"/>
                <a:ea typeface="Open Sans"/>
                <a:cs typeface="Open Sans"/>
                <a:sym typeface="Open Sans"/>
              </a:rPr>
              <a:t>Option strategy is complicated and has multiple moving parts</a:t>
            </a:r>
          </a:p>
          <a:p>
            <a:pPr marL="742950" lvl="1" indent="-285750" algn="just">
              <a:lnSpc>
                <a:spcPts val="4224"/>
              </a:lnSpc>
            </a:pPr>
            <a:r>
              <a:rPr lang="en-US" sz="2800" spc="96">
                <a:solidFill>
                  <a:srgbClr val="000000"/>
                </a:solidFill>
                <a:latin typeface="Garamond" panose="02020404030301010803" pitchFamily="18" charset="0"/>
                <a:ea typeface="Open Sans"/>
                <a:cs typeface="Open Sans"/>
                <a:sym typeface="Open Sans"/>
              </a:rPr>
              <a:t>Offers strategic flexibility</a:t>
            </a:r>
          </a:p>
          <a:p>
            <a:pPr marL="742950" lvl="1" indent="-285750" algn="just">
              <a:lnSpc>
                <a:spcPts val="4224"/>
              </a:lnSpc>
            </a:pPr>
            <a:r>
              <a:rPr lang="en-US" sz="2800" spc="96">
                <a:solidFill>
                  <a:srgbClr val="000000"/>
                </a:solidFill>
                <a:latin typeface="Garamond" panose="02020404030301010803" pitchFamily="18" charset="0"/>
                <a:ea typeface="Open Sans"/>
                <a:cs typeface="Open Sans"/>
                <a:sym typeface="Open Sans"/>
              </a:rPr>
              <a:t>Helps when hedging risk</a:t>
            </a:r>
          </a:p>
          <a:p>
            <a:pPr marL="742950" lvl="1" indent="-285750" algn="just">
              <a:lnSpc>
                <a:spcPts val="4224"/>
              </a:lnSpc>
            </a:pPr>
            <a:r>
              <a:rPr lang="en-US" sz="2800" spc="96">
                <a:solidFill>
                  <a:srgbClr val="000000"/>
                </a:solidFill>
                <a:latin typeface="Garamond" panose="02020404030301010803" pitchFamily="18" charset="0"/>
                <a:ea typeface="Open Sans"/>
                <a:cs typeface="Open Sans"/>
                <a:sym typeface="Open Sans"/>
              </a:rPr>
              <a:t>Element of leverage</a:t>
            </a:r>
          </a:p>
          <a:p>
            <a:pPr marL="285750" indent="-285750" algn="just">
              <a:lnSpc>
                <a:spcPts val="4224"/>
              </a:lnSpc>
              <a:buFont typeface="Arial" panose="020B0604020202020204" pitchFamily="34" charset="0"/>
              <a:buChar char="•"/>
            </a:pPr>
            <a:r>
              <a:rPr lang="en-US" spc="96">
                <a:solidFill>
                  <a:srgbClr val="000000"/>
                </a:solidFill>
                <a:latin typeface="Garamond" panose="02020404030301010803" pitchFamily="18" charset="0"/>
                <a:ea typeface="Open Sans"/>
                <a:cs typeface="Open Sans"/>
                <a:sym typeface="Open Sans"/>
              </a:rPr>
              <a:t>Visuals summarize complex information and shows the bigger picture</a:t>
            </a:r>
          </a:p>
          <a:p>
            <a:pPr marL="285750" indent="-285750" algn="just">
              <a:lnSpc>
                <a:spcPts val="4224"/>
              </a:lnSpc>
              <a:buFont typeface="Arial" panose="020B0604020202020204" pitchFamily="34" charset="0"/>
              <a:buChar char="•"/>
            </a:pPr>
            <a:r>
              <a:rPr lang="en-US" spc="96">
                <a:solidFill>
                  <a:srgbClr val="000000"/>
                </a:solidFill>
                <a:latin typeface="Garamond" panose="02020404030301010803" pitchFamily="18" charset="0"/>
                <a:ea typeface="Open Sans"/>
                <a:cs typeface="Open Sans"/>
                <a:sym typeface="Open Sans"/>
              </a:rPr>
              <a:t>Helpful when communicating with others or testing ideas</a:t>
            </a:r>
          </a:p>
          <a:p>
            <a:endParaRPr lang="en-US">
              <a:latin typeface="Garamond" panose="02020404030301010803" pitchFamily="18" charset="0"/>
            </a:endParaRPr>
          </a:p>
        </p:txBody>
      </p:sp>
      <p:sp>
        <p:nvSpPr>
          <p:cNvPr id="4" name="Rectangle 3">
            <a:extLst>
              <a:ext uri="{FF2B5EF4-FFF2-40B4-BE49-F238E27FC236}">
                <a16:creationId xmlns:a16="http://schemas.microsoft.com/office/drawing/2014/main" id="{DC4C1122-EDB8-A251-F1E1-6F5612320E2B}"/>
              </a:ext>
            </a:extLst>
          </p:cNvPr>
          <p:cNvSpPr/>
          <p:nvPr/>
        </p:nvSpPr>
        <p:spPr>
          <a:xfrm>
            <a:off x="914399" y="2832410"/>
            <a:ext cx="11260139" cy="767544"/>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Reasoning</a:t>
            </a:r>
          </a:p>
        </p:txBody>
      </p:sp>
      <p:pic>
        <p:nvPicPr>
          <p:cNvPr id="5" name="Picture 2" descr="Image result for option pay off visuals">
            <a:extLst>
              <a:ext uri="{FF2B5EF4-FFF2-40B4-BE49-F238E27FC236}">
                <a16:creationId xmlns:a16="http://schemas.microsoft.com/office/drawing/2014/main" id="{2B4F2798-F722-B6A8-7DAF-0145FB21AB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76081" y="2841861"/>
            <a:ext cx="10993518" cy="9703852"/>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 Placeholder 3">
            <a:extLst>
              <a:ext uri="{FF2B5EF4-FFF2-40B4-BE49-F238E27FC236}">
                <a16:creationId xmlns:a16="http://schemas.microsoft.com/office/drawing/2014/main" id="{091C153E-6B37-12E0-3DB5-26EA7B06241E}"/>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
        <p:nvSpPr>
          <p:cNvPr id="7" name="Content Placeholder 2">
            <a:extLst>
              <a:ext uri="{FF2B5EF4-FFF2-40B4-BE49-F238E27FC236}">
                <a16:creationId xmlns:a16="http://schemas.microsoft.com/office/drawing/2014/main" id="{B9E7758A-0D8B-FB84-0F25-62B4CE637E5C}"/>
              </a:ext>
            </a:extLst>
          </p:cNvPr>
          <p:cNvSpPr txBox="1">
            <a:spLocks/>
          </p:cNvSpPr>
          <p:nvPr/>
        </p:nvSpPr>
        <p:spPr>
          <a:xfrm>
            <a:off x="914401" y="8423486"/>
            <a:ext cx="11281861" cy="4107433"/>
          </a:xfrm>
          <a:prstGeom prst="rect">
            <a:avLst/>
          </a:prstGeom>
          <a:solidFill>
            <a:srgbClr val="E8E8E8"/>
          </a:solidFill>
          <a:ln w="19050" cap="flat" cmpd="sng" algn="ctr">
            <a:solidFill>
              <a:srgbClr val="0C1542"/>
            </a:solidFill>
            <a:prstDash val="solid"/>
            <a:miter lim="800000"/>
          </a:ln>
          <a:effectLst/>
        </p:spPr>
        <p:txBody>
          <a:bodyPr vert="horz" lIns="91440" tIns="45720" rIns="91440" bIns="45720" rtlCol="0" anchor="t">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dk1"/>
                </a:solidFill>
                <a:latin typeface="+mn-lt"/>
                <a:ea typeface="+mn-ea"/>
                <a:cs typeface="+mn-cs"/>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altLang="en-US" b="1">
                <a:solidFill>
                  <a:schemeClr val="tx1"/>
                </a:solidFill>
                <a:latin typeface="Garamond"/>
              </a:rPr>
              <a:t>Underlying price:</a:t>
            </a:r>
            <a:r>
              <a:rPr lang="en-US" altLang="en-US">
                <a:solidFill>
                  <a:schemeClr val="tx1"/>
                </a:solidFill>
                <a:latin typeface="Garamond"/>
              </a:rPr>
              <a:t> The current market price (or a range of prices) of the asset on which the option is based. </a:t>
            </a:r>
            <a:endParaRPr lang="en-US">
              <a:solidFill>
                <a:schemeClr val="tx1"/>
              </a:solidFill>
            </a:endParaRPr>
          </a:p>
          <a:p>
            <a:r>
              <a:rPr lang="en-US" altLang="en-US" b="1">
                <a:solidFill>
                  <a:schemeClr val="tx1"/>
                </a:solidFill>
                <a:latin typeface="Garamond"/>
              </a:rPr>
              <a:t>Strike price:</a:t>
            </a:r>
            <a:r>
              <a:rPr lang="en-US" altLang="en-US">
                <a:solidFill>
                  <a:schemeClr val="tx1"/>
                </a:solidFill>
                <a:latin typeface="Garamond"/>
              </a:rPr>
              <a:t> The price at which the option can be exercised. </a:t>
            </a:r>
          </a:p>
          <a:p>
            <a:r>
              <a:rPr lang="en-US" altLang="en-US" b="1">
                <a:solidFill>
                  <a:schemeClr val="tx1"/>
                </a:solidFill>
                <a:latin typeface="Garamond"/>
              </a:rPr>
              <a:t>Premium:</a:t>
            </a:r>
            <a:r>
              <a:rPr lang="en-US" altLang="en-US">
                <a:solidFill>
                  <a:schemeClr val="tx1"/>
                </a:solidFill>
                <a:latin typeface="Garamond"/>
              </a:rPr>
              <a:t> The cost of buying or the proceeds from selling the option contract. </a:t>
            </a:r>
          </a:p>
          <a:p>
            <a:r>
              <a:rPr lang="en-US" altLang="en-US" b="1">
                <a:solidFill>
                  <a:schemeClr val="tx1"/>
                </a:solidFill>
                <a:latin typeface="Garamond"/>
              </a:rPr>
              <a:t>Position:</a:t>
            </a:r>
            <a:r>
              <a:rPr lang="en-US" altLang="en-US">
                <a:solidFill>
                  <a:schemeClr val="tx1"/>
                </a:solidFill>
                <a:latin typeface="Garamond"/>
              </a:rPr>
              <a:t> Indicates whether the option is held long or short. </a:t>
            </a:r>
          </a:p>
          <a:p>
            <a:endParaRPr lang="en-US" altLang="en-US">
              <a:solidFill>
                <a:schemeClr val="tx1"/>
              </a:solidFill>
              <a:latin typeface="Garamond" panose="02020404030301010803" pitchFamily="18" charset="0"/>
            </a:endParaRPr>
          </a:p>
          <a:p>
            <a:endParaRPr lang="en-US" kern="100">
              <a:solidFill>
                <a:schemeClr val="tx1"/>
              </a:solidFill>
              <a:latin typeface="Garamond" panose="02020404030301010803" pitchFamily="18" charset="0"/>
              <a:ea typeface="Aptos" panose="020B000402020202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E7FF6D6F-4A0B-E0A5-D0A1-EB7B7C8311A5}"/>
              </a:ext>
            </a:extLst>
          </p:cNvPr>
          <p:cNvSpPr/>
          <p:nvPr/>
        </p:nvSpPr>
        <p:spPr>
          <a:xfrm>
            <a:off x="914399" y="7617262"/>
            <a:ext cx="11289004" cy="81193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Fundamental Input Parameters</a:t>
            </a:r>
          </a:p>
        </p:txBody>
      </p:sp>
    </p:spTree>
    <p:extLst>
      <p:ext uri="{BB962C8B-B14F-4D97-AF65-F5344CB8AC3E}">
        <p14:creationId xmlns:p14="http://schemas.microsoft.com/office/powerpoint/2010/main" val="2115834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18B6C-ADAB-1197-87B4-A29DEF53C567}"/>
              </a:ext>
            </a:extLst>
          </p:cNvPr>
          <p:cNvSpPr>
            <a:spLocks noGrp="1"/>
          </p:cNvSpPr>
          <p:nvPr>
            <p:ph type="title"/>
          </p:nvPr>
        </p:nvSpPr>
        <p:spPr/>
        <p:txBody>
          <a:bodyPr/>
          <a:lstStyle/>
          <a:p>
            <a:r>
              <a:rPr lang="en-US">
                <a:latin typeface="Garamond"/>
                <a:cs typeface="Poppins SemiBold"/>
              </a:rPr>
              <a:t>Libraries Used</a:t>
            </a:r>
            <a:endParaRPr lang="en-US"/>
          </a:p>
        </p:txBody>
      </p:sp>
      <p:sp>
        <p:nvSpPr>
          <p:cNvPr id="3" name="Content Placeholder 2">
            <a:extLst>
              <a:ext uri="{FF2B5EF4-FFF2-40B4-BE49-F238E27FC236}">
                <a16:creationId xmlns:a16="http://schemas.microsoft.com/office/drawing/2014/main" id="{D1BE1C94-05FE-8A15-AC04-644E42583863}"/>
              </a:ext>
            </a:extLst>
          </p:cNvPr>
          <p:cNvSpPr>
            <a:spLocks noGrp="1"/>
          </p:cNvSpPr>
          <p:nvPr>
            <p:ph idx="1"/>
          </p:nvPr>
        </p:nvSpPr>
        <p:spPr/>
        <p:txBody>
          <a:bodyPr vert="horz" lIns="91440" tIns="45720" rIns="91440" bIns="45720" rtlCol="0" anchor="t">
            <a:normAutofit/>
          </a:bodyPr>
          <a:lstStyle/>
          <a:p>
            <a:r>
              <a:rPr lang="en-US" b="1" dirty="0">
                <a:solidFill>
                  <a:schemeClr val="tx1"/>
                </a:solidFill>
                <a:latin typeface="Garamond"/>
                <a:ea typeface="+mn-lt"/>
                <a:cs typeface="+mn-lt"/>
              </a:rPr>
              <a:t>Option Math</a:t>
            </a:r>
            <a:br>
              <a:rPr lang="en-US" b="1" dirty="0">
                <a:latin typeface="Garamond"/>
                <a:ea typeface="+mn-lt"/>
                <a:cs typeface="+mn-lt"/>
              </a:rPr>
            </a:br>
            <a:r>
              <a:rPr lang="en-US" dirty="0">
                <a:solidFill>
                  <a:schemeClr val="tx1"/>
                </a:solidFill>
                <a:latin typeface="Garamond"/>
                <a:ea typeface="+mn-lt"/>
                <a:cs typeface="+mn-lt"/>
              </a:rPr>
              <a:t>Speeds up payoff calculations by applying formulas across arrays of prices instead of using loops.</a:t>
            </a:r>
          </a:p>
          <a:p>
            <a:r>
              <a:rPr lang="en-US" b="1" dirty="0" err="1">
                <a:solidFill>
                  <a:schemeClr val="tx1"/>
                </a:solidFill>
                <a:latin typeface="Garamond"/>
              </a:rPr>
              <a:t>np.maximum</a:t>
            </a:r>
            <a:r>
              <a:rPr lang="en-US" b="1" dirty="0">
                <a:solidFill>
                  <a:schemeClr val="tx1"/>
                </a:solidFill>
                <a:latin typeface="Garamond"/>
              </a:rPr>
              <a:t>()</a:t>
            </a:r>
            <a:br>
              <a:rPr lang="en-US" b="1" dirty="0">
                <a:latin typeface="Garamond"/>
                <a:ea typeface="+mn-lt"/>
                <a:cs typeface="+mn-lt"/>
              </a:rPr>
            </a:br>
            <a:r>
              <a:rPr lang="en-US" dirty="0">
                <a:solidFill>
                  <a:schemeClr val="tx1"/>
                </a:solidFill>
                <a:latin typeface="Garamond"/>
                <a:ea typeface="+mn-lt"/>
                <a:cs typeface="+mn-lt"/>
              </a:rPr>
              <a:t>Used to ensures certain option payoffs don’t go negative as </a:t>
            </a:r>
            <a:r>
              <a:rPr lang="en-US" u="sng" dirty="0">
                <a:solidFill>
                  <a:schemeClr val="tx1"/>
                </a:solidFill>
                <a:latin typeface="Garamond"/>
                <a:ea typeface="+mn-lt"/>
                <a:cs typeface="+mn-lt"/>
              </a:rPr>
              <a:t>intrinsic value can’t go below zero.</a:t>
            </a:r>
            <a:r>
              <a:rPr lang="en-US" dirty="0">
                <a:solidFill>
                  <a:schemeClr val="tx1"/>
                </a:solidFill>
                <a:latin typeface="Garamond"/>
                <a:ea typeface="+mn-lt"/>
                <a:cs typeface="+mn-lt"/>
              </a:rPr>
              <a:t> This reflects real-world logic where an out-of-the-money option isn’t exercised, meaning its intrinsic value is zero, not negative. </a:t>
            </a:r>
            <a:endParaRPr lang="en-US" dirty="0">
              <a:solidFill>
                <a:schemeClr val="tx1"/>
              </a:solidFill>
              <a:latin typeface="Garamond"/>
            </a:endParaRPr>
          </a:p>
          <a:p>
            <a:r>
              <a:rPr lang="en-US" b="1" dirty="0" err="1">
                <a:solidFill>
                  <a:schemeClr val="tx1"/>
                </a:solidFill>
                <a:latin typeface="Garamond"/>
              </a:rPr>
              <a:t>np.linspace</a:t>
            </a:r>
            <a:r>
              <a:rPr lang="en-US" b="1" dirty="0">
                <a:solidFill>
                  <a:schemeClr val="tx1"/>
                </a:solidFill>
                <a:latin typeface="Garamond"/>
              </a:rPr>
              <a:t>()</a:t>
            </a:r>
            <a:r>
              <a:rPr lang="en-US" b="1" dirty="0">
                <a:solidFill>
                  <a:schemeClr val="tx1"/>
                </a:solidFill>
                <a:latin typeface="Garamond"/>
                <a:ea typeface="+mn-lt"/>
                <a:cs typeface="+mn-lt"/>
              </a:rPr>
              <a:t> </a:t>
            </a:r>
            <a:br>
              <a:rPr lang="en-US" b="1" dirty="0">
                <a:latin typeface="Garamond"/>
                <a:ea typeface="+mn-lt"/>
                <a:cs typeface="+mn-lt"/>
              </a:rPr>
            </a:br>
            <a:r>
              <a:rPr lang="en-US" dirty="0">
                <a:solidFill>
                  <a:schemeClr val="tx1"/>
                </a:solidFill>
                <a:latin typeface="Garamond"/>
                <a:ea typeface="+mn-lt"/>
                <a:cs typeface="+mn-lt"/>
              </a:rPr>
              <a:t>Used to create evenly spaced prices (70%–130% of current price) to simulate how strategies perform across different scenarios.</a:t>
            </a:r>
          </a:p>
          <a:p>
            <a:endParaRPr lang="en-US" sz="2600">
              <a:solidFill>
                <a:schemeClr val="tx1"/>
              </a:solidFill>
            </a:endParaRPr>
          </a:p>
          <a:p>
            <a:endParaRPr lang="en-US" kern="100">
              <a:solidFill>
                <a:schemeClr val="tx1"/>
              </a:solidFill>
              <a:latin typeface="Garamond" panose="02020404030301010803" pitchFamily="18" charset="0"/>
              <a:ea typeface="Aptos" panose="020B000402020202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484D765-6251-48D3-CD73-8C8EE403C13F}"/>
              </a:ext>
            </a:extLst>
          </p:cNvPr>
          <p:cNvSpPr>
            <a:spLocks noGrp="1"/>
          </p:cNvSpPr>
          <p:nvPr>
            <p:ph idx="10"/>
          </p:nvPr>
        </p:nvSpPr>
        <p:spPr>
          <a:xfrm>
            <a:off x="12334202" y="3521522"/>
            <a:ext cx="11119104" cy="8835420"/>
          </a:xfrm>
        </p:spPr>
        <p:txBody>
          <a:bodyPr vert="horz" lIns="91440" tIns="45720" rIns="91440" bIns="45720" rtlCol="0" anchor="t">
            <a:noAutofit/>
          </a:bodyPr>
          <a:lstStyle/>
          <a:p>
            <a:r>
              <a:rPr lang="en-US" b="1">
                <a:solidFill>
                  <a:schemeClr val="tx1"/>
                </a:solidFill>
                <a:latin typeface="Garamond"/>
                <a:ea typeface="+mn-lt"/>
                <a:cs typeface="+mn-lt"/>
              </a:rPr>
              <a:t>Draws Option Payoff Charts</a:t>
            </a:r>
            <a:endParaRPr lang="en-US">
              <a:solidFill>
                <a:schemeClr val="tx1"/>
              </a:solidFill>
              <a:latin typeface="Garamond"/>
              <a:ea typeface="+mn-lt"/>
              <a:cs typeface="+mn-lt"/>
            </a:endParaRPr>
          </a:p>
          <a:p>
            <a:pPr marL="0" indent="0">
              <a:buNone/>
            </a:pPr>
            <a:r>
              <a:rPr lang="en-US">
                <a:solidFill>
                  <a:schemeClr val="tx1"/>
                </a:solidFill>
                <a:latin typeface="Garamond"/>
                <a:ea typeface="+mn-lt"/>
                <a:cs typeface="+mn-lt"/>
              </a:rPr>
              <a:t>   Shows how much money you could make or lose at different prices when                      your option expires.</a:t>
            </a:r>
            <a:endParaRPr lang="en-US">
              <a:solidFill>
                <a:schemeClr val="tx1"/>
              </a:solidFill>
              <a:latin typeface="Garamond"/>
            </a:endParaRPr>
          </a:p>
          <a:p>
            <a:r>
              <a:rPr lang="en-US" b="1">
                <a:solidFill>
                  <a:schemeClr val="tx1"/>
                </a:solidFill>
                <a:latin typeface="Garamond"/>
                <a:ea typeface="+mn-lt"/>
                <a:cs typeface="Times New Roman"/>
              </a:rPr>
              <a:t>Easy to Customize</a:t>
            </a:r>
            <a:r>
              <a:rPr lang="en-US">
                <a:solidFill>
                  <a:schemeClr val="tx1"/>
                </a:solidFill>
                <a:latin typeface="Garamond"/>
                <a:ea typeface="+mn-lt"/>
                <a:cs typeface="Times New Roman"/>
              </a:rPr>
              <a:t>: </a:t>
            </a:r>
            <a:endParaRPr lang="en-US">
              <a:solidFill>
                <a:schemeClr val="tx1"/>
              </a:solidFill>
              <a:latin typeface="Aptos" panose="02110004020202020204"/>
              <a:ea typeface="+mn-lt"/>
              <a:cs typeface="Times New Roman"/>
            </a:endParaRPr>
          </a:p>
          <a:p>
            <a:pPr marL="0" indent="0">
              <a:buNone/>
            </a:pPr>
            <a:r>
              <a:rPr lang="en-US">
                <a:solidFill>
                  <a:schemeClr val="tx1"/>
                </a:solidFill>
                <a:latin typeface="Garamond"/>
                <a:ea typeface="+mn-lt"/>
                <a:cs typeface="Times New Roman"/>
              </a:rPr>
              <a:t>   You can add titles, labels, lines for strike price </a:t>
            </a:r>
            <a:r>
              <a:rPr lang="en-US">
                <a:solidFill>
                  <a:schemeClr val="tx1"/>
                </a:solidFill>
                <a:latin typeface="Garamond"/>
                <a:ea typeface="+mn-lt"/>
                <a:cs typeface="+mn-lt"/>
              </a:rPr>
              <a:t>or break-even, and a legend to                                           make the chart clearer.</a:t>
            </a:r>
            <a:endParaRPr lang="en-US">
              <a:solidFill>
                <a:schemeClr val="tx1"/>
              </a:solidFill>
            </a:endParaRPr>
          </a:p>
          <a:p>
            <a:r>
              <a:rPr lang="en-US" b="1">
                <a:solidFill>
                  <a:schemeClr val="tx1"/>
                </a:solidFill>
                <a:latin typeface="Garamond"/>
                <a:cs typeface="Times New Roman"/>
              </a:rPr>
              <a:t>Works Well with NumPy</a:t>
            </a:r>
            <a:r>
              <a:rPr lang="en-US">
                <a:solidFill>
                  <a:schemeClr val="tx1"/>
                </a:solidFill>
                <a:latin typeface="Garamond"/>
                <a:cs typeface="Times New Roman"/>
              </a:rPr>
              <a:t>: </a:t>
            </a:r>
          </a:p>
          <a:p>
            <a:pPr marL="0" indent="0">
              <a:buNone/>
            </a:pPr>
            <a:r>
              <a:rPr lang="en-US">
                <a:solidFill>
                  <a:schemeClr val="tx1"/>
                </a:solidFill>
                <a:latin typeface="Garamond"/>
                <a:cs typeface="Times New Roman"/>
              </a:rPr>
              <a:t>   You </a:t>
            </a:r>
            <a:r>
              <a:rPr lang="en-US">
                <a:solidFill>
                  <a:schemeClr val="tx1"/>
                </a:solidFill>
                <a:latin typeface="Garamond"/>
              </a:rPr>
              <a:t>can plug in NumPy data (like prices and payoffs) directly into the plot.</a:t>
            </a:r>
            <a:endParaRPr lang="en-US">
              <a:solidFill>
                <a:schemeClr val="tx1"/>
              </a:solidFill>
            </a:endParaRPr>
          </a:p>
          <a:p>
            <a:br>
              <a:rPr lang="en-US" sz="1200">
                <a:ea typeface="+mn-lt"/>
                <a:cs typeface="+mn-lt"/>
              </a:rPr>
            </a:br>
            <a:endParaRPr lang="en-US" sz="1200">
              <a:latin typeface="Aptos"/>
              <a:cs typeface="Times New Roman"/>
            </a:endParaRPr>
          </a:p>
          <a:p>
            <a:endParaRPr lang="en-US" sz="1400">
              <a:latin typeface="Garamond" panose="02020404030301010803" pitchFamily="18" charset="0"/>
              <a:cs typeface="Times New Roman"/>
            </a:endParaRPr>
          </a:p>
        </p:txBody>
      </p:sp>
      <p:sp>
        <p:nvSpPr>
          <p:cNvPr id="7" name="Rectangle 6">
            <a:extLst>
              <a:ext uri="{FF2B5EF4-FFF2-40B4-BE49-F238E27FC236}">
                <a16:creationId xmlns:a16="http://schemas.microsoft.com/office/drawing/2014/main" id="{C0295B53-CD37-B7BA-88F3-D8B846FECEEA}"/>
              </a:ext>
            </a:extLst>
          </p:cNvPr>
          <p:cNvSpPr/>
          <p:nvPr/>
        </p:nvSpPr>
        <p:spPr>
          <a:xfrm>
            <a:off x="1964205" y="2902223"/>
            <a:ext cx="9001155" cy="599407"/>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latin typeface="Garamond"/>
              </a:rPr>
              <a:t>NumPy</a:t>
            </a:r>
            <a:endParaRPr lang="en-US" sz="3200" err="1">
              <a:latin typeface="Garamond" panose="02020404030301010803" pitchFamily="18" charset="0"/>
            </a:endParaRPr>
          </a:p>
        </p:txBody>
      </p:sp>
      <p:sp>
        <p:nvSpPr>
          <p:cNvPr id="9" name="Rectangle 8">
            <a:extLst>
              <a:ext uri="{FF2B5EF4-FFF2-40B4-BE49-F238E27FC236}">
                <a16:creationId xmlns:a16="http://schemas.microsoft.com/office/drawing/2014/main" id="{2B2C59B3-5F8F-CD52-4E3C-3B9823C40680}"/>
              </a:ext>
            </a:extLst>
          </p:cNvPr>
          <p:cNvSpPr/>
          <p:nvPr/>
        </p:nvSpPr>
        <p:spPr>
          <a:xfrm>
            <a:off x="13668910" y="3007105"/>
            <a:ext cx="8325741" cy="391589"/>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latin typeface="Garamond"/>
              </a:rPr>
              <a:t>Matplotlib</a:t>
            </a:r>
            <a:endParaRPr lang="en-US" sz="3200">
              <a:latin typeface="Garamond" panose="02020404030301010803" pitchFamily="18" charset="0"/>
            </a:endParaRPr>
          </a:p>
        </p:txBody>
      </p:sp>
      <p:sp>
        <p:nvSpPr>
          <p:cNvPr id="14" name="Text Placeholder 3">
            <a:extLst>
              <a:ext uri="{FF2B5EF4-FFF2-40B4-BE49-F238E27FC236}">
                <a16:creationId xmlns:a16="http://schemas.microsoft.com/office/drawing/2014/main" id="{3B72D8E5-8384-54E9-37C0-DC751539A1B2}"/>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1316877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D9E846F-5A35-0FDE-8C6E-8345F8524CD5}"/>
              </a:ext>
            </a:extLst>
          </p:cNvPr>
          <p:cNvSpPr/>
          <p:nvPr/>
        </p:nvSpPr>
        <p:spPr>
          <a:xfrm>
            <a:off x="939192" y="3541841"/>
            <a:ext cx="8300768" cy="2321201"/>
          </a:xfrm>
          <a:prstGeom prst="rect">
            <a:avLst/>
          </a:prstGeom>
          <a:solidFill>
            <a:schemeClr val="bg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FBF8FC-7526-C071-C077-2886BE0ADF24}"/>
              </a:ext>
            </a:extLst>
          </p:cNvPr>
          <p:cNvSpPr>
            <a:spLocks noGrp="1"/>
          </p:cNvSpPr>
          <p:nvPr>
            <p:ph type="title"/>
          </p:nvPr>
        </p:nvSpPr>
        <p:spPr/>
        <p:txBody>
          <a:bodyPr/>
          <a:lstStyle/>
          <a:p>
            <a:r>
              <a:rPr lang="en-US"/>
              <a:t>Code for Calls/Puts</a:t>
            </a:r>
          </a:p>
        </p:txBody>
      </p:sp>
      <p:sp>
        <p:nvSpPr>
          <p:cNvPr id="3" name="Content Placeholder 2">
            <a:extLst>
              <a:ext uri="{FF2B5EF4-FFF2-40B4-BE49-F238E27FC236}">
                <a16:creationId xmlns:a16="http://schemas.microsoft.com/office/drawing/2014/main" id="{95422D61-7544-C145-051C-3CAC4B299C3E}"/>
              </a:ext>
            </a:extLst>
          </p:cNvPr>
          <p:cNvSpPr>
            <a:spLocks noGrp="1"/>
          </p:cNvSpPr>
          <p:nvPr>
            <p:ph idx="4294967295"/>
          </p:nvPr>
        </p:nvSpPr>
        <p:spPr>
          <a:xfrm>
            <a:off x="914399" y="3570361"/>
            <a:ext cx="8335927" cy="2340864"/>
          </a:xfrm>
          <a:solidFill>
            <a:srgbClr val="E8E8E8"/>
          </a:solidFill>
          <a:ln w="19050">
            <a:solidFill>
              <a:srgbClr val="0C1542"/>
            </a:solidFill>
          </a:ln>
        </p:spPr>
        <p:txBody>
          <a:bodyPr vert="horz" lIns="91440" tIns="45720" rIns="91440" bIns="45720" rtlCol="0" anchor="t">
            <a:noAutofit/>
          </a:bodyPr>
          <a:lstStyle/>
          <a:p>
            <a:pPr>
              <a:buFont typeface="Arial"/>
              <a:buChar char="•"/>
            </a:pPr>
            <a:r>
              <a:rPr lang="en-US">
                <a:solidFill>
                  <a:schemeClr val="tx1"/>
                </a:solidFill>
                <a:latin typeface="Garamond"/>
                <a:ea typeface="+mn-lt"/>
                <a:cs typeface="+mn-lt"/>
              </a:rPr>
              <a:t>Calculates</a:t>
            </a:r>
            <a:r>
              <a:rPr lang="en-US">
                <a:solidFill>
                  <a:schemeClr val="tx1"/>
                </a:solidFill>
                <a:latin typeface="Garamond"/>
                <a:cs typeface="Poppins"/>
              </a:rPr>
              <a:t> </a:t>
            </a:r>
            <a:r>
              <a:rPr lang="en-US">
                <a:solidFill>
                  <a:schemeClr val="tx1"/>
                </a:solidFill>
                <a:latin typeface="Garamond"/>
                <a:ea typeface="+mn-lt"/>
                <a:cs typeface="+mn-lt"/>
              </a:rPr>
              <a:t>call option payoff for long or short positions using </a:t>
            </a:r>
            <a:r>
              <a:rPr lang="en-US" err="1">
                <a:solidFill>
                  <a:schemeClr val="tx1"/>
                </a:solidFill>
                <a:latin typeface="Garamond"/>
                <a:ea typeface="+mn-lt"/>
                <a:cs typeface="+mn-lt"/>
              </a:rPr>
              <a:t>np.maximum</a:t>
            </a:r>
            <a:r>
              <a:rPr lang="en-US">
                <a:solidFill>
                  <a:schemeClr val="tx1"/>
                </a:solidFill>
                <a:latin typeface="Garamond"/>
                <a:ea typeface="+mn-lt"/>
                <a:cs typeface="+mn-lt"/>
              </a:rPr>
              <a:t>().</a:t>
            </a:r>
            <a:endParaRPr lang="en-US">
              <a:solidFill>
                <a:schemeClr val="tx1"/>
              </a:solidFill>
              <a:latin typeface="Garamond"/>
            </a:endParaRPr>
          </a:p>
          <a:p>
            <a:pPr>
              <a:buFont typeface="Arial"/>
              <a:buChar char="•"/>
            </a:pPr>
            <a:r>
              <a:rPr lang="en-US">
                <a:solidFill>
                  <a:schemeClr val="tx1"/>
                </a:solidFill>
                <a:latin typeface="Garamond"/>
                <a:ea typeface="+mn-lt"/>
                <a:cs typeface="+mn-lt"/>
              </a:rPr>
              <a:t>Validates </a:t>
            </a:r>
            <a:r>
              <a:rPr lang="en-US">
                <a:solidFill>
                  <a:schemeClr val="tx1"/>
                </a:solidFill>
                <a:latin typeface="Garamond"/>
                <a:cs typeface="Poppins"/>
              </a:rPr>
              <a:t>position</a:t>
            </a:r>
            <a:r>
              <a:rPr lang="en-US">
                <a:solidFill>
                  <a:schemeClr val="tx1"/>
                </a:solidFill>
                <a:latin typeface="Garamond"/>
                <a:ea typeface="+mn-lt"/>
                <a:cs typeface="+mn-lt"/>
              </a:rPr>
              <a:t> and raises an error for invalid inputs.</a:t>
            </a:r>
            <a:endParaRPr lang="en-US">
              <a:solidFill>
                <a:schemeClr val="tx1"/>
              </a:solidFill>
              <a:latin typeface="Garamond"/>
            </a:endParaRPr>
          </a:p>
        </p:txBody>
      </p:sp>
      <p:sp>
        <p:nvSpPr>
          <p:cNvPr id="4" name="Content Placeholder 3">
            <a:extLst>
              <a:ext uri="{FF2B5EF4-FFF2-40B4-BE49-F238E27FC236}">
                <a16:creationId xmlns:a16="http://schemas.microsoft.com/office/drawing/2014/main" id="{F11E083A-8820-3EC1-5F46-254E0E1637FA}"/>
              </a:ext>
            </a:extLst>
          </p:cNvPr>
          <p:cNvSpPr>
            <a:spLocks noGrp="1"/>
          </p:cNvSpPr>
          <p:nvPr>
            <p:ph idx="4294967295"/>
          </p:nvPr>
        </p:nvSpPr>
        <p:spPr>
          <a:xfrm>
            <a:off x="914399" y="10124997"/>
            <a:ext cx="8335924" cy="2340864"/>
          </a:xfrm>
          <a:solidFill>
            <a:srgbClr val="E8E8E8"/>
          </a:solidFill>
          <a:ln w="19050">
            <a:solidFill>
              <a:srgbClr val="0C1542"/>
            </a:solidFill>
          </a:ln>
        </p:spPr>
        <p:txBody>
          <a:bodyPr>
            <a:noAutofit/>
          </a:bodyPr>
          <a:lstStyle/>
          <a:p>
            <a:pPr algn="l">
              <a:lnSpc>
                <a:spcPct val="100000"/>
              </a:lnSpc>
              <a:buFont typeface="Arial"/>
              <a:buChar char="•"/>
            </a:pPr>
            <a:r>
              <a:rPr lang="en-US">
                <a:solidFill>
                  <a:schemeClr val="tx1"/>
                </a:solidFill>
                <a:latin typeface="Garamond" panose="02020404030301010803" pitchFamily="18" charset="0"/>
                <a:ea typeface="+mn-lt"/>
                <a:cs typeface="+mn-lt"/>
              </a:rPr>
              <a:t>Inputs: </a:t>
            </a:r>
            <a:r>
              <a:rPr lang="en-US" err="1">
                <a:solidFill>
                  <a:schemeClr val="tx1"/>
                </a:solidFill>
                <a:latin typeface="Garamond" panose="02020404030301010803" pitchFamily="18" charset="0"/>
              </a:rPr>
              <a:t>underlying_prices</a:t>
            </a:r>
            <a:r>
              <a:rPr lang="en-US">
                <a:solidFill>
                  <a:schemeClr val="tx1"/>
                </a:solidFill>
                <a:latin typeface="Garamond" panose="02020404030301010803" pitchFamily="18" charset="0"/>
                <a:ea typeface="+mn-lt"/>
                <a:cs typeface="+mn-lt"/>
              </a:rPr>
              <a:t>, </a:t>
            </a:r>
            <a:r>
              <a:rPr lang="en-US">
                <a:solidFill>
                  <a:schemeClr val="tx1"/>
                </a:solidFill>
                <a:latin typeface="Garamond" panose="02020404030301010803" pitchFamily="18" charset="0"/>
              </a:rPr>
              <a:t>payoffs</a:t>
            </a:r>
            <a:r>
              <a:rPr lang="en-US">
                <a:solidFill>
                  <a:schemeClr val="tx1"/>
                </a:solidFill>
                <a:latin typeface="Garamond" panose="02020404030301010803" pitchFamily="18" charset="0"/>
                <a:ea typeface="+mn-lt"/>
                <a:cs typeface="+mn-lt"/>
              </a:rPr>
              <a:t>, and a plot title</a:t>
            </a:r>
          </a:p>
          <a:p>
            <a:pPr algn="l">
              <a:lnSpc>
                <a:spcPct val="100000"/>
              </a:lnSpc>
              <a:buFont typeface="Arial"/>
              <a:buChar char="•"/>
            </a:pPr>
            <a:r>
              <a:rPr lang="en-US">
                <a:solidFill>
                  <a:schemeClr val="tx1"/>
                </a:solidFill>
                <a:latin typeface="Garamond" panose="02020404030301010803" pitchFamily="18" charset="0"/>
                <a:ea typeface="+mn-lt"/>
                <a:cs typeface="+mn-lt"/>
              </a:rPr>
              <a:t>Plots payoff vs. price with labels, title, legend, and grid</a:t>
            </a:r>
          </a:p>
          <a:p>
            <a:pPr algn="l">
              <a:lnSpc>
                <a:spcPct val="100000"/>
              </a:lnSpc>
              <a:buFont typeface="Arial"/>
              <a:buChar char="•"/>
            </a:pPr>
            <a:r>
              <a:rPr lang="en-US">
                <a:solidFill>
                  <a:schemeClr val="tx1"/>
                </a:solidFill>
                <a:latin typeface="Garamond" panose="02020404030301010803" pitchFamily="18" charset="0"/>
                <a:ea typeface="+mn-lt"/>
                <a:cs typeface="+mn-lt"/>
              </a:rPr>
              <a:t>Adds horizontal line at 0 to show breakeven point</a:t>
            </a:r>
          </a:p>
        </p:txBody>
      </p:sp>
      <p:sp>
        <p:nvSpPr>
          <p:cNvPr id="5" name="Content Placeholder 4">
            <a:extLst>
              <a:ext uri="{FF2B5EF4-FFF2-40B4-BE49-F238E27FC236}">
                <a16:creationId xmlns:a16="http://schemas.microsoft.com/office/drawing/2014/main" id="{8290D3F9-F3D3-9F9D-1D25-2D1AF1918F72}"/>
              </a:ext>
            </a:extLst>
          </p:cNvPr>
          <p:cNvSpPr>
            <a:spLocks noGrp="1"/>
          </p:cNvSpPr>
          <p:nvPr>
            <p:ph idx="4294967295"/>
          </p:nvPr>
        </p:nvSpPr>
        <p:spPr>
          <a:xfrm>
            <a:off x="914399" y="6839383"/>
            <a:ext cx="8335928" cy="2340864"/>
          </a:xfrm>
          <a:solidFill>
            <a:srgbClr val="E8E8E8"/>
          </a:solidFill>
          <a:ln w="19050">
            <a:solidFill>
              <a:srgbClr val="0C1542"/>
            </a:solidFill>
          </a:ln>
        </p:spPr>
        <p:txBody>
          <a:bodyPr vert="horz" lIns="91440" tIns="45720" rIns="91440" bIns="45720" rtlCol="0" anchor="t">
            <a:noAutofit/>
          </a:bodyPr>
          <a:lstStyle/>
          <a:p>
            <a:r>
              <a:rPr lang="en-US">
                <a:solidFill>
                  <a:schemeClr val="tx1"/>
                </a:solidFill>
                <a:latin typeface="Garamond"/>
                <a:ea typeface="+mn-lt"/>
                <a:cs typeface="+mn-lt"/>
              </a:rPr>
              <a:t>Calculates put option payoff for long or short positions using </a:t>
            </a:r>
            <a:r>
              <a:rPr lang="en-US" err="1">
                <a:solidFill>
                  <a:schemeClr val="tx1"/>
                </a:solidFill>
                <a:latin typeface="Garamond"/>
                <a:ea typeface="+mn-lt"/>
                <a:cs typeface="+mn-lt"/>
              </a:rPr>
              <a:t>np.maximum</a:t>
            </a:r>
            <a:r>
              <a:rPr lang="en-US">
                <a:solidFill>
                  <a:schemeClr val="tx1"/>
                </a:solidFill>
                <a:latin typeface="Garamond"/>
                <a:ea typeface="+mn-lt"/>
                <a:cs typeface="+mn-lt"/>
              </a:rPr>
              <a:t>().</a:t>
            </a:r>
            <a:endParaRPr lang="en-US">
              <a:solidFill>
                <a:schemeClr val="tx1"/>
              </a:solidFill>
              <a:latin typeface="Garamond"/>
            </a:endParaRPr>
          </a:p>
          <a:p>
            <a:r>
              <a:rPr lang="en-US">
                <a:solidFill>
                  <a:schemeClr val="tx1"/>
                </a:solidFill>
                <a:latin typeface="Garamond"/>
                <a:ea typeface="+mn-lt"/>
                <a:cs typeface="+mn-lt"/>
              </a:rPr>
              <a:t>Validates </a:t>
            </a:r>
            <a:r>
              <a:rPr lang="en-US">
                <a:solidFill>
                  <a:schemeClr val="tx1"/>
                </a:solidFill>
                <a:latin typeface="Garamond"/>
                <a:cs typeface="Poppins"/>
              </a:rPr>
              <a:t>position</a:t>
            </a:r>
            <a:r>
              <a:rPr lang="en-US">
                <a:solidFill>
                  <a:schemeClr val="tx1"/>
                </a:solidFill>
                <a:latin typeface="Garamond"/>
                <a:ea typeface="+mn-lt"/>
                <a:cs typeface="+mn-lt"/>
              </a:rPr>
              <a:t> and raises an error for invalid inputs.</a:t>
            </a:r>
            <a:endParaRPr lang="en-US">
              <a:solidFill>
                <a:schemeClr val="tx1"/>
              </a:solidFill>
              <a:latin typeface="Garamond"/>
            </a:endParaRPr>
          </a:p>
          <a:p>
            <a:pPr>
              <a:lnSpc>
                <a:spcPct val="100000"/>
              </a:lnSpc>
            </a:pPr>
            <a:endParaRPr lang="en-US">
              <a:solidFill>
                <a:schemeClr val="tx1"/>
              </a:solidFill>
              <a:latin typeface="Garamond" panose="02020404030301010803" pitchFamily="18" charset="0"/>
              <a:ea typeface="+mn-lt"/>
              <a:cs typeface="+mn-lt"/>
            </a:endParaRPr>
          </a:p>
          <a:p>
            <a:endParaRPr lang="en-US">
              <a:latin typeface="Garamond" panose="02020404030301010803" pitchFamily="18" charset="0"/>
            </a:endParaRPr>
          </a:p>
        </p:txBody>
      </p:sp>
      <p:sp>
        <p:nvSpPr>
          <p:cNvPr id="6" name="Rectangle 5">
            <a:extLst>
              <a:ext uri="{FF2B5EF4-FFF2-40B4-BE49-F238E27FC236}">
                <a16:creationId xmlns:a16="http://schemas.microsoft.com/office/drawing/2014/main" id="{39CDF743-CE32-9245-5F34-B6F6BDD4BA0B}"/>
              </a:ext>
            </a:extLst>
          </p:cNvPr>
          <p:cNvSpPr/>
          <p:nvPr/>
        </p:nvSpPr>
        <p:spPr>
          <a:xfrm>
            <a:off x="914400" y="2832410"/>
            <a:ext cx="8335926"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call_payoff</a:t>
            </a:r>
            <a:r>
              <a:rPr lang="en-US" sz="3200" dirty="0">
                <a:latin typeface="Garamond"/>
              </a:rPr>
              <a:t>"</a:t>
            </a:r>
            <a:endParaRPr lang="en-US" sz="3200" dirty="0">
              <a:latin typeface="Garamond" panose="02020404030301010803" pitchFamily="18" charset="0"/>
            </a:endParaRPr>
          </a:p>
        </p:txBody>
      </p:sp>
      <p:sp>
        <p:nvSpPr>
          <p:cNvPr id="7" name="Rectangle 6">
            <a:extLst>
              <a:ext uri="{FF2B5EF4-FFF2-40B4-BE49-F238E27FC236}">
                <a16:creationId xmlns:a16="http://schemas.microsoft.com/office/drawing/2014/main" id="{58806B18-58EA-14AC-4B14-1B6F1856BC33}"/>
              </a:ext>
            </a:extLst>
          </p:cNvPr>
          <p:cNvSpPr/>
          <p:nvPr/>
        </p:nvSpPr>
        <p:spPr>
          <a:xfrm>
            <a:off x="881867" y="5960853"/>
            <a:ext cx="8357091" cy="886118"/>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put_payoff</a:t>
            </a:r>
            <a:r>
              <a:rPr lang="en-US" sz="3200" dirty="0">
                <a:latin typeface="Garamond"/>
              </a:rPr>
              <a:t>"</a:t>
            </a:r>
          </a:p>
        </p:txBody>
      </p:sp>
      <p:sp>
        <p:nvSpPr>
          <p:cNvPr id="8" name="Rectangle 7">
            <a:extLst>
              <a:ext uri="{FF2B5EF4-FFF2-40B4-BE49-F238E27FC236}">
                <a16:creationId xmlns:a16="http://schemas.microsoft.com/office/drawing/2014/main" id="{69AB5FFF-7B65-6AA3-87E9-F40A5D682F8B}"/>
              </a:ext>
            </a:extLst>
          </p:cNvPr>
          <p:cNvSpPr/>
          <p:nvPr/>
        </p:nvSpPr>
        <p:spPr>
          <a:xfrm>
            <a:off x="893322" y="9243342"/>
            <a:ext cx="8385844" cy="887400"/>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plot_payoff</a:t>
            </a:r>
            <a:r>
              <a:rPr lang="en-US" sz="3200" dirty="0">
                <a:latin typeface="Garamond"/>
              </a:rPr>
              <a:t>"</a:t>
            </a:r>
          </a:p>
        </p:txBody>
      </p:sp>
      <p:pic>
        <p:nvPicPr>
          <p:cNvPr id="9" name="Picture 8">
            <a:extLst>
              <a:ext uri="{FF2B5EF4-FFF2-40B4-BE49-F238E27FC236}">
                <a16:creationId xmlns:a16="http://schemas.microsoft.com/office/drawing/2014/main" id="{2679C3D8-AD29-8D27-EF4A-8CA9781B3713}"/>
              </a:ext>
            </a:extLst>
          </p:cNvPr>
          <p:cNvPicPr>
            <a:picLocks noChangeAspect="1"/>
          </p:cNvPicPr>
          <p:nvPr/>
        </p:nvPicPr>
        <p:blipFill>
          <a:blip r:embed="rId3"/>
          <a:srcRect l="3183" t="1431" r="31060" b="53477"/>
          <a:stretch/>
        </p:blipFill>
        <p:spPr>
          <a:xfrm>
            <a:off x="11590883" y="2835248"/>
            <a:ext cx="11232804" cy="2863773"/>
          </a:xfrm>
          <a:prstGeom prst="rect">
            <a:avLst/>
          </a:prstGeom>
        </p:spPr>
      </p:pic>
      <p:pic>
        <p:nvPicPr>
          <p:cNvPr id="10" name="Picture 9">
            <a:extLst>
              <a:ext uri="{FF2B5EF4-FFF2-40B4-BE49-F238E27FC236}">
                <a16:creationId xmlns:a16="http://schemas.microsoft.com/office/drawing/2014/main" id="{BF2CDC20-5837-FAF0-DE6B-652FD77B62B7}"/>
              </a:ext>
            </a:extLst>
          </p:cNvPr>
          <p:cNvPicPr>
            <a:picLocks noChangeAspect="1"/>
          </p:cNvPicPr>
          <p:nvPr/>
        </p:nvPicPr>
        <p:blipFill>
          <a:blip r:embed="rId4"/>
          <a:srcRect l="4518" t="-240" r="18702" b="395"/>
          <a:stretch/>
        </p:blipFill>
        <p:spPr>
          <a:xfrm>
            <a:off x="11602666" y="8813771"/>
            <a:ext cx="11205813" cy="3673256"/>
          </a:xfrm>
          <a:prstGeom prst="rect">
            <a:avLst/>
          </a:prstGeom>
        </p:spPr>
      </p:pic>
      <p:pic>
        <p:nvPicPr>
          <p:cNvPr id="11" name="Picture 10" descr="A screen shot of a computer program&#10;&#10;AI-generated content may be incorrect.">
            <a:extLst>
              <a:ext uri="{FF2B5EF4-FFF2-40B4-BE49-F238E27FC236}">
                <a16:creationId xmlns:a16="http://schemas.microsoft.com/office/drawing/2014/main" id="{734F5258-3722-A1B2-CE9D-21A4F8BCFB76}"/>
              </a:ext>
            </a:extLst>
          </p:cNvPr>
          <p:cNvPicPr>
            <a:picLocks noChangeAspect="1"/>
          </p:cNvPicPr>
          <p:nvPr/>
        </p:nvPicPr>
        <p:blipFill>
          <a:blip r:embed="rId3"/>
          <a:srcRect l="3055" t="48839" r="31188" b="5068"/>
          <a:stretch/>
        </p:blipFill>
        <p:spPr>
          <a:xfrm>
            <a:off x="11591272" y="5712553"/>
            <a:ext cx="11218428" cy="3077848"/>
          </a:xfrm>
          <a:prstGeom prst="rect">
            <a:avLst/>
          </a:prstGeom>
        </p:spPr>
      </p:pic>
      <p:sp>
        <p:nvSpPr>
          <p:cNvPr id="17" name="Text Placeholder 3">
            <a:extLst>
              <a:ext uri="{FF2B5EF4-FFF2-40B4-BE49-F238E27FC236}">
                <a16:creationId xmlns:a16="http://schemas.microsoft.com/office/drawing/2014/main" id="{AC1F24EA-C51B-4B63-1A81-A6D604849781}"/>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997245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974A-9C78-45A5-3416-14415111A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9B745-3CD3-B94B-8F0D-90CCED176F23}"/>
              </a:ext>
            </a:extLst>
          </p:cNvPr>
          <p:cNvSpPr>
            <a:spLocks noGrp="1"/>
          </p:cNvSpPr>
          <p:nvPr>
            <p:ph type="title"/>
          </p:nvPr>
        </p:nvSpPr>
        <p:spPr/>
        <p:txBody>
          <a:bodyPr/>
          <a:lstStyle/>
          <a:p>
            <a:r>
              <a:rPr lang="en-US">
                <a:latin typeface="Garamond"/>
                <a:cs typeface="Poppins SemiBold"/>
              </a:rPr>
              <a:t>Code for Calls/Puts</a:t>
            </a:r>
          </a:p>
        </p:txBody>
      </p:sp>
      <p:sp>
        <p:nvSpPr>
          <p:cNvPr id="3" name="Content Placeholder 2">
            <a:extLst>
              <a:ext uri="{FF2B5EF4-FFF2-40B4-BE49-F238E27FC236}">
                <a16:creationId xmlns:a16="http://schemas.microsoft.com/office/drawing/2014/main" id="{723AFAA2-2586-44A6-0DD3-02EC76E32920}"/>
              </a:ext>
            </a:extLst>
          </p:cNvPr>
          <p:cNvSpPr>
            <a:spLocks noGrp="1"/>
          </p:cNvSpPr>
          <p:nvPr>
            <p:ph idx="4294967295"/>
          </p:nvPr>
        </p:nvSpPr>
        <p:spPr>
          <a:xfrm>
            <a:off x="914399" y="3570361"/>
            <a:ext cx="8335927" cy="2340864"/>
          </a:xfrm>
          <a:solidFill>
            <a:srgbClr val="E8E8E8"/>
          </a:solidFill>
          <a:ln w="19050">
            <a:solidFill>
              <a:srgbClr val="0C1542"/>
            </a:solidFill>
          </a:ln>
        </p:spPr>
        <p:txBody>
          <a:bodyPr>
            <a:noAutofit/>
          </a:bodyPr>
          <a:lstStyle/>
          <a:p>
            <a:pPr marL="228600" indent="-228600" algn="l">
              <a:lnSpc>
                <a:spcPct val="100000"/>
              </a:lnSpc>
              <a:spcBef>
                <a:spcPts val="0"/>
              </a:spcBef>
              <a:buFont typeface=""/>
              <a:buChar char="•"/>
            </a:pPr>
            <a:r>
              <a:rPr lang="en-US" err="1">
                <a:solidFill>
                  <a:schemeClr val="tx1"/>
                </a:solidFill>
                <a:latin typeface="Garamond" panose="02020404030301010803" pitchFamily="18" charset="0"/>
              </a:rPr>
              <a:t>get_option_parameters</a:t>
            </a:r>
            <a:r>
              <a:rPr lang="en-US">
                <a:solidFill>
                  <a:schemeClr val="tx1"/>
                </a:solidFill>
                <a:latin typeface="Garamond" panose="02020404030301010803" pitchFamily="18" charset="0"/>
              </a:rPr>
              <a:t>() collects option details from the user</a:t>
            </a:r>
          </a:p>
          <a:p>
            <a:pPr marL="228600" indent="-228600" algn="l">
              <a:lnSpc>
                <a:spcPct val="100000"/>
              </a:lnSpc>
              <a:spcBef>
                <a:spcPts val="0"/>
              </a:spcBef>
              <a:buFont typeface=""/>
              <a:buChar char="•"/>
            </a:pPr>
            <a:r>
              <a:rPr lang="en-US">
                <a:solidFill>
                  <a:schemeClr val="tx1"/>
                </a:solidFill>
                <a:latin typeface="Garamond" panose="02020404030301010803" pitchFamily="18" charset="0"/>
              </a:rPr>
              <a:t>Prompts for </a:t>
            </a:r>
            <a:r>
              <a:rPr lang="en-US" err="1">
                <a:solidFill>
                  <a:schemeClr val="tx1"/>
                </a:solidFill>
                <a:latin typeface="Garamond" panose="02020404030301010803" pitchFamily="18" charset="0"/>
              </a:rPr>
              <a:t>strike_price</a:t>
            </a:r>
            <a:r>
              <a:rPr lang="en-US">
                <a:solidFill>
                  <a:schemeClr val="tx1"/>
                </a:solidFill>
                <a:latin typeface="Garamond" panose="02020404030301010803" pitchFamily="18" charset="0"/>
              </a:rPr>
              <a:t> and premium using input()</a:t>
            </a:r>
          </a:p>
          <a:p>
            <a:pPr marL="228600" indent="-228600" algn="l">
              <a:lnSpc>
                <a:spcPct val="100000"/>
              </a:lnSpc>
              <a:spcBef>
                <a:spcPts val="0"/>
              </a:spcBef>
              <a:buFont typeface=""/>
              <a:buChar char="•"/>
            </a:pPr>
            <a:r>
              <a:rPr lang="en-US">
                <a:solidFill>
                  <a:schemeClr val="tx1"/>
                </a:solidFill>
                <a:latin typeface="Garamond" panose="02020404030301010803" pitchFamily="18" charset="0"/>
              </a:rPr>
              <a:t>Converts inputs to numbers using float()</a:t>
            </a:r>
          </a:p>
          <a:p>
            <a:pPr marL="228600" indent="-228600" algn="l">
              <a:lnSpc>
                <a:spcPct val="100000"/>
              </a:lnSpc>
              <a:spcBef>
                <a:spcPts val="0"/>
              </a:spcBef>
              <a:buFont typeface=""/>
              <a:buChar char="•"/>
            </a:pPr>
            <a:r>
              <a:rPr lang="en-US">
                <a:solidFill>
                  <a:schemeClr val="tx1"/>
                </a:solidFill>
                <a:latin typeface="Garamond" panose="02020404030301010803" pitchFamily="18" charset="0"/>
              </a:rPr>
              <a:t>Returns both values as a tuple for later use</a:t>
            </a:r>
          </a:p>
        </p:txBody>
      </p:sp>
      <p:sp>
        <p:nvSpPr>
          <p:cNvPr id="4" name="Content Placeholder 3">
            <a:extLst>
              <a:ext uri="{FF2B5EF4-FFF2-40B4-BE49-F238E27FC236}">
                <a16:creationId xmlns:a16="http://schemas.microsoft.com/office/drawing/2014/main" id="{074C490F-EE24-D73D-7ADC-C7C21E3D18BB}"/>
              </a:ext>
            </a:extLst>
          </p:cNvPr>
          <p:cNvSpPr>
            <a:spLocks noGrp="1"/>
          </p:cNvSpPr>
          <p:nvPr>
            <p:ph idx="4294967295"/>
          </p:nvPr>
        </p:nvSpPr>
        <p:spPr>
          <a:xfrm>
            <a:off x="914399" y="10124997"/>
            <a:ext cx="8335924" cy="2340864"/>
          </a:xfrm>
          <a:solidFill>
            <a:srgbClr val="E8E8E8"/>
          </a:solidFill>
          <a:ln w="19050">
            <a:solidFill>
              <a:srgbClr val="0C1542"/>
            </a:solidFill>
          </a:ln>
        </p:spPr>
        <p:txBody>
          <a:bodyPr>
            <a:noAutofit/>
          </a:bodyPr>
          <a:lstStyle/>
          <a:p>
            <a:pPr algn="l">
              <a:lnSpc>
                <a:spcPct val="100000"/>
              </a:lnSpc>
              <a:spcBef>
                <a:spcPts val="0"/>
              </a:spcBef>
              <a:buFont typeface="Arial"/>
              <a:buChar char="•"/>
            </a:pPr>
            <a:r>
              <a:rPr lang="en-US" sz="2800">
                <a:solidFill>
                  <a:schemeClr val="tx1"/>
                </a:solidFill>
                <a:latin typeface="Garamond" panose="02020404030301010803" pitchFamily="18" charset="0"/>
                <a:ea typeface="+mn-lt"/>
                <a:cs typeface="+mn-lt"/>
              </a:rPr>
              <a:t>Checks if option is 'call' or 'put'</a:t>
            </a:r>
            <a:endParaRPr lang="en-US">
              <a:solidFill>
                <a:schemeClr val="tx1"/>
              </a:solidFill>
              <a:latin typeface="Garamond" panose="02020404030301010803" pitchFamily="18" charset="0"/>
              <a:ea typeface="+mn-lt"/>
              <a:cs typeface="+mn-lt"/>
            </a:endParaRPr>
          </a:p>
          <a:p>
            <a:pPr algn="l">
              <a:lnSpc>
                <a:spcPct val="100000"/>
              </a:lnSpc>
              <a:spcBef>
                <a:spcPts val="0"/>
              </a:spcBef>
              <a:buFont typeface="Arial"/>
              <a:buChar char="•"/>
            </a:pPr>
            <a:r>
              <a:rPr lang="en-US" sz="2800">
                <a:solidFill>
                  <a:schemeClr val="tx1"/>
                </a:solidFill>
                <a:latin typeface="Garamond" panose="02020404030301010803" pitchFamily="18" charset="0"/>
                <a:ea typeface="+mn-lt"/>
                <a:cs typeface="+mn-lt"/>
              </a:rPr>
              <a:t>Calculates payoffs using </a:t>
            </a:r>
            <a:r>
              <a:rPr lang="en-US" sz="2800" err="1">
                <a:solidFill>
                  <a:schemeClr val="tx1"/>
                </a:solidFill>
                <a:latin typeface="Garamond" panose="02020404030301010803" pitchFamily="18" charset="0"/>
              </a:rPr>
              <a:t>call_payoff</a:t>
            </a:r>
            <a:r>
              <a:rPr lang="en-US" sz="2800">
                <a:solidFill>
                  <a:schemeClr val="tx1"/>
                </a:solidFill>
                <a:latin typeface="Garamond" panose="02020404030301010803" pitchFamily="18" charset="0"/>
              </a:rPr>
              <a:t>()</a:t>
            </a:r>
            <a:r>
              <a:rPr lang="en-US" sz="2800">
                <a:solidFill>
                  <a:schemeClr val="tx1"/>
                </a:solidFill>
                <a:latin typeface="Garamond" panose="02020404030301010803" pitchFamily="18" charset="0"/>
                <a:ea typeface="+mn-lt"/>
                <a:cs typeface="+mn-lt"/>
              </a:rPr>
              <a:t> or </a:t>
            </a:r>
            <a:r>
              <a:rPr lang="en-US" sz="2800" err="1">
                <a:solidFill>
                  <a:schemeClr val="tx1"/>
                </a:solidFill>
                <a:latin typeface="Garamond" panose="02020404030301010803" pitchFamily="18" charset="0"/>
              </a:rPr>
              <a:t>put_payoff</a:t>
            </a:r>
            <a:r>
              <a:rPr lang="en-US" sz="2800">
                <a:solidFill>
                  <a:schemeClr val="tx1"/>
                </a:solidFill>
                <a:latin typeface="Garamond" panose="02020404030301010803" pitchFamily="18" charset="0"/>
              </a:rPr>
              <a:t>()</a:t>
            </a:r>
            <a:endParaRPr lang="en-US">
              <a:solidFill>
                <a:schemeClr val="tx1"/>
              </a:solidFill>
              <a:latin typeface="Garamond" panose="02020404030301010803" pitchFamily="18" charset="0"/>
            </a:endParaRPr>
          </a:p>
          <a:p>
            <a:pPr algn="l">
              <a:lnSpc>
                <a:spcPct val="100000"/>
              </a:lnSpc>
              <a:spcBef>
                <a:spcPts val="0"/>
              </a:spcBef>
              <a:buFont typeface="Arial"/>
              <a:buChar char="•"/>
            </a:pPr>
            <a:r>
              <a:rPr lang="en-US" sz="2800">
                <a:solidFill>
                  <a:schemeClr val="tx1"/>
                </a:solidFill>
                <a:latin typeface="Garamond" panose="02020404030301010803" pitchFamily="18" charset="0"/>
                <a:ea typeface="+mn-lt"/>
                <a:cs typeface="+mn-lt"/>
              </a:rPr>
              <a:t>Sets title, calculates break-even point</a:t>
            </a:r>
            <a:endParaRPr lang="en-US">
              <a:solidFill>
                <a:schemeClr val="tx1"/>
              </a:solidFill>
              <a:latin typeface="Garamond" panose="02020404030301010803" pitchFamily="18" charset="0"/>
              <a:ea typeface="+mn-lt"/>
              <a:cs typeface="+mn-lt"/>
            </a:endParaRPr>
          </a:p>
          <a:p>
            <a:pPr algn="l">
              <a:lnSpc>
                <a:spcPct val="100000"/>
              </a:lnSpc>
              <a:spcBef>
                <a:spcPts val="0"/>
              </a:spcBef>
              <a:buFont typeface="Arial"/>
              <a:buChar char="•"/>
            </a:pPr>
            <a:r>
              <a:rPr lang="en-US" sz="2800">
                <a:solidFill>
                  <a:schemeClr val="tx1"/>
                </a:solidFill>
                <a:latin typeface="Garamond" panose="02020404030301010803" pitchFamily="18" charset="0"/>
                <a:ea typeface="+mn-lt"/>
                <a:cs typeface="+mn-lt"/>
              </a:rPr>
              <a:t>Displays payoff chart with </a:t>
            </a:r>
            <a:r>
              <a:rPr lang="en-US" sz="2800" err="1">
                <a:solidFill>
                  <a:schemeClr val="tx1"/>
                </a:solidFill>
                <a:latin typeface="Garamond" panose="02020404030301010803" pitchFamily="18" charset="0"/>
              </a:rPr>
              <a:t>plot_payoff</a:t>
            </a:r>
            <a:r>
              <a:rPr lang="en-US" sz="2800">
                <a:solidFill>
                  <a:schemeClr val="tx1"/>
                </a:solidFill>
                <a:latin typeface="Garamond" panose="02020404030301010803" pitchFamily="18" charset="0"/>
              </a:rPr>
              <a:t>()</a:t>
            </a:r>
            <a:endParaRPr lang="en-US">
              <a:solidFill>
                <a:schemeClr val="tx1"/>
              </a:solidFill>
              <a:latin typeface="Garamond" panose="02020404030301010803" pitchFamily="18" charset="0"/>
            </a:endParaRPr>
          </a:p>
          <a:p>
            <a:pPr marL="228600" indent="-228600" algn="l">
              <a:lnSpc>
                <a:spcPct val="100000"/>
              </a:lnSpc>
              <a:spcBef>
                <a:spcPts val="0"/>
              </a:spcBef>
              <a:buFont typeface=""/>
              <a:buChar char="•"/>
            </a:pPr>
            <a:endParaRPr lang="en-US" sz="2800">
              <a:solidFill>
                <a:schemeClr val="tx1"/>
              </a:solidFill>
              <a:latin typeface="Garamond" panose="02020404030301010803" pitchFamily="18" charset="0"/>
            </a:endParaRPr>
          </a:p>
        </p:txBody>
      </p:sp>
      <p:sp>
        <p:nvSpPr>
          <p:cNvPr id="5" name="Content Placeholder 4">
            <a:extLst>
              <a:ext uri="{FF2B5EF4-FFF2-40B4-BE49-F238E27FC236}">
                <a16:creationId xmlns:a16="http://schemas.microsoft.com/office/drawing/2014/main" id="{0BDC7547-6088-8112-642B-0FB938646F73}"/>
              </a:ext>
            </a:extLst>
          </p:cNvPr>
          <p:cNvSpPr>
            <a:spLocks noGrp="1"/>
          </p:cNvSpPr>
          <p:nvPr>
            <p:ph idx="4294967295"/>
          </p:nvPr>
        </p:nvSpPr>
        <p:spPr>
          <a:xfrm>
            <a:off x="914399" y="6839383"/>
            <a:ext cx="8335928" cy="2340864"/>
          </a:xfrm>
          <a:solidFill>
            <a:srgbClr val="E8E8E8"/>
          </a:solidFill>
          <a:ln w="19050">
            <a:solidFill>
              <a:srgbClr val="0C1542"/>
            </a:solidFill>
          </a:ln>
        </p:spPr>
        <p:txBody>
          <a:bodyPr vert="horz" lIns="91440" tIns="45720" rIns="91440" bIns="45720" rtlCol="0" anchor="t">
            <a:noAutofit/>
          </a:bodyPr>
          <a:lstStyle/>
          <a:p>
            <a:pPr algn="l">
              <a:lnSpc>
                <a:spcPct val="100000"/>
              </a:lnSpc>
              <a:spcBef>
                <a:spcPts val="0"/>
              </a:spcBef>
              <a:buFont typeface="Arial"/>
              <a:buChar char="•"/>
            </a:pPr>
            <a:r>
              <a:rPr lang="en-US" dirty="0">
                <a:solidFill>
                  <a:schemeClr val="tx1"/>
                </a:solidFill>
                <a:latin typeface="Garamond" panose="02020404030301010803" pitchFamily="18" charset="0"/>
                <a:ea typeface="+mn-lt"/>
                <a:cs typeface="+mn-lt"/>
              </a:rPr>
              <a:t>Prompts for option type and current price</a:t>
            </a:r>
            <a:endParaRPr lang="en-US" dirty="0"/>
          </a:p>
          <a:p>
            <a:pPr algn="l">
              <a:lnSpc>
                <a:spcPct val="100000"/>
              </a:lnSpc>
              <a:spcBef>
                <a:spcPts val="0"/>
              </a:spcBef>
              <a:buFont typeface="Arial"/>
              <a:buChar char="•"/>
            </a:pPr>
            <a:r>
              <a:rPr lang="en-US" dirty="0">
                <a:solidFill>
                  <a:schemeClr val="tx1"/>
                </a:solidFill>
                <a:latin typeface="Garamond"/>
                <a:ea typeface="+mn-lt"/>
                <a:cs typeface="+mn-lt"/>
              </a:rPr>
              <a:t>Generates 400 price points (70%-130% of current) using </a:t>
            </a:r>
            <a:r>
              <a:rPr lang="en-US" dirty="0" err="1">
                <a:solidFill>
                  <a:schemeClr val="tx1"/>
                </a:solidFill>
                <a:latin typeface="Garamond"/>
                <a:cs typeface="Poppins"/>
              </a:rPr>
              <a:t>numpy.linspace</a:t>
            </a:r>
            <a:endParaRPr lang="en-US" dirty="0">
              <a:solidFill>
                <a:schemeClr val="tx1"/>
              </a:solidFill>
              <a:latin typeface="Garamond"/>
              <a:cs typeface="Poppins"/>
            </a:endParaRPr>
          </a:p>
          <a:p>
            <a:pPr algn="l">
              <a:lnSpc>
                <a:spcPct val="100000"/>
              </a:lnSpc>
              <a:spcBef>
                <a:spcPts val="0"/>
              </a:spcBef>
              <a:buFont typeface="Arial"/>
              <a:buChar char="•"/>
            </a:pPr>
            <a:r>
              <a:rPr lang="en-US" dirty="0">
                <a:solidFill>
                  <a:schemeClr val="tx1"/>
                </a:solidFill>
                <a:latin typeface="Garamond"/>
                <a:ea typeface="+mn-lt"/>
                <a:cs typeface="+mn-lt"/>
              </a:rPr>
              <a:t>Validates option type and gathers strike price/premium</a:t>
            </a:r>
            <a:endParaRPr lang="en-US" dirty="0">
              <a:solidFill>
                <a:schemeClr val="tx1"/>
              </a:solidFill>
              <a:latin typeface="Garamond"/>
            </a:endParaRPr>
          </a:p>
          <a:p>
            <a:pPr>
              <a:lnSpc>
                <a:spcPct val="100000"/>
              </a:lnSpc>
              <a:spcBef>
                <a:spcPts val="0"/>
              </a:spcBef>
            </a:pPr>
            <a:endParaRPr lang="en-US">
              <a:latin typeface="Garamond" panose="02020404030301010803" pitchFamily="18" charset="0"/>
            </a:endParaRPr>
          </a:p>
        </p:txBody>
      </p:sp>
      <p:sp>
        <p:nvSpPr>
          <p:cNvPr id="6" name="Rectangle 5">
            <a:extLst>
              <a:ext uri="{FF2B5EF4-FFF2-40B4-BE49-F238E27FC236}">
                <a16:creationId xmlns:a16="http://schemas.microsoft.com/office/drawing/2014/main" id="{C3580C83-14E2-D890-B277-689239FE3590}"/>
              </a:ext>
            </a:extLst>
          </p:cNvPr>
          <p:cNvSpPr/>
          <p:nvPr/>
        </p:nvSpPr>
        <p:spPr>
          <a:xfrm>
            <a:off x="914400" y="2832410"/>
            <a:ext cx="8335926"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get_option_parameters</a:t>
            </a:r>
            <a:r>
              <a:rPr lang="en-US" sz="3200" dirty="0">
                <a:latin typeface="Garamond"/>
              </a:rPr>
              <a:t>"</a:t>
            </a:r>
            <a:endParaRPr lang="en-US" sz="3200" dirty="0">
              <a:latin typeface="Garamond" panose="02020404030301010803" pitchFamily="18" charset="0"/>
            </a:endParaRPr>
          </a:p>
        </p:txBody>
      </p:sp>
      <p:sp>
        <p:nvSpPr>
          <p:cNvPr id="7" name="Rectangle 6">
            <a:extLst>
              <a:ext uri="{FF2B5EF4-FFF2-40B4-BE49-F238E27FC236}">
                <a16:creationId xmlns:a16="http://schemas.microsoft.com/office/drawing/2014/main" id="{3E7B1AD1-2E75-3623-39CD-38A1B6B3003C}"/>
              </a:ext>
            </a:extLst>
          </p:cNvPr>
          <p:cNvSpPr/>
          <p:nvPr/>
        </p:nvSpPr>
        <p:spPr>
          <a:xfrm>
            <a:off x="914398" y="5970557"/>
            <a:ext cx="8335925" cy="864153"/>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Setup &amp; User Input</a:t>
            </a:r>
          </a:p>
        </p:txBody>
      </p:sp>
      <p:sp>
        <p:nvSpPr>
          <p:cNvPr id="8" name="Rectangle 7">
            <a:extLst>
              <a:ext uri="{FF2B5EF4-FFF2-40B4-BE49-F238E27FC236}">
                <a16:creationId xmlns:a16="http://schemas.microsoft.com/office/drawing/2014/main" id="{ABDC12BB-5294-62B7-FA08-4CD00115632A}"/>
              </a:ext>
            </a:extLst>
          </p:cNvPr>
          <p:cNvSpPr/>
          <p:nvPr/>
        </p:nvSpPr>
        <p:spPr>
          <a:xfrm>
            <a:off x="914398" y="9251687"/>
            <a:ext cx="8335923" cy="864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Payoff Calculation</a:t>
            </a:r>
          </a:p>
        </p:txBody>
      </p:sp>
      <p:pic>
        <p:nvPicPr>
          <p:cNvPr id="11" name="Picture 10" descr="A black background with green text&#10;&#10;AI-generated content may be incorrect.">
            <a:extLst>
              <a:ext uri="{FF2B5EF4-FFF2-40B4-BE49-F238E27FC236}">
                <a16:creationId xmlns:a16="http://schemas.microsoft.com/office/drawing/2014/main" id="{EE5507FF-03DA-BE9B-B1E1-C4C6F5DB7A67}"/>
              </a:ext>
            </a:extLst>
          </p:cNvPr>
          <p:cNvPicPr>
            <a:picLocks noChangeAspect="1"/>
          </p:cNvPicPr>
          <p:nvPr/>
        </p:nvPicPr>
        <p:blipFill>
          <a:blip r:embed="rId2"/>
          <a:stretch>
            <a:fillRect/>
          </a:stretch>
        </p:blipFill>
        <p:spPr>
          <a:xfrm>
            <a:off x="9506564" y="2832409"/>
            <a:ext cx="13963035" cy="1675795"/>
          </a:xfrm>
          <a:prstGeom prst="rect">
            <a:avLst/>
          </a:prstGeom>
        </p:spPr>
      </p:pic>
      <p:pic>
        <p:nvPicPr>
          <p:cNvPr id="12" name="Picture 11" descr="A computer screen shot of a program&#10;&#10;AI-generated content may be incorrect.">
            <a:extLst>
              <a:ext uri="{FF2B5EF4-FFF2-40B4-BE49-F238E27FC236}">
                <a16:creationId xmlns:a16="http://schemas.microsoft.com/office/drawing/2014/main" id="{0076DCF3-0181-71F9-CE37-BA535329B6F3}"/>
              </a:ext>
            </a:extLst>
          </p:cNvPr>
          <p:cNvPicPr>
            <a:picLocks noChangeAspect="1"/>
          </p:cNvPicPr>
          <p:nvPr/>
        </p:nvPicPr>
        <p:blipFill>
          <a:blip r:embed="rId3"/>
          <a:stretch>
            <a:fillRect/>
          </a:stretch>
        </p:blipFill>
        <p:spPr>
          <a:xfrm>
            <a:off x="9506564" y="4655733"/>
            <a:ext cx="13963037" cy="7816164"/>
          </a:xfrm>
          <a:prstGeom prst="rect">
            <a:avLst/>
          </a:prstGeom>
        </p:spPr>
      </p:pic>
      <p:sp>
        <p:nvSpPr>
          <p:cNvPr id="16" name="Text Placeholder 3">
            <a:extLst>
              <a:ext uri="{FF2B5EF4-FFF2-40B4-BE49-F238E27FC236}">
                <a16:creationId xmlns:a16="http://schemas.microsoft.com/office/drawing/2014/main" id="{FE2FDF07-62AD-4BA1-7DD4-4B9EC43F96E9}"/>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3565882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60B4-0E85-46BD-A090-3204A9D2A9B4}"/>
              </a:ext>
            </a:extLst>
          </p:cNvPr>
          <p:cNvSpPr>
            <a:spLocks noGrp="1"/>
          </p:cNvSpPr>
          <p:nvPr>
            <p:ph type="title"/>
          </p:nvPr>
        </p:nvSpPr>
        <p:spPr/>
        <p:txBody>
          <a:bodyPr/>
          <a:lstStyle/>
          <a:p>
            <a:r>
              <a:rPr lang="en-US"/>
              <a:t>Output</a:t>
            </a:r>
          </a:p>
        </p:txBody>
      </p:sp>
      <p:pic>
        <p:nvPicPr>
          <p:cNvPr id="3" name="Picture 2" descr="A graph with a line&#10;&#10;AI-generated content may be incorrect.">
            <a:extLst>
              <a:ext uri="{FF2B5EF4-FFF2-40B4-BE49-F238E27FC236}">
                <a16:creationId xmlns:a16="http://schemas.microsoft.com/office/drawing/2014/main" id="{9D3E814A-72B6-4309-A370-5B5F879AF425}"/>
              </a:ext>
            </a:extLst>
          </p:cNvPr>
          <p:cNvPicPr>
            <a:picLocks/>
          </p:cNvPicPr>
          <p:nvPr/>
        </p:nvPicPr>
        <p:blipFill>
          <a:blip r:embed="rId2"/>
          <a:stretch>
            <a:fillRect/>
          </a:stretch>
        </p:blipFill>
        <p:spPr>
          <a:xfrm>
            <a:off x="12782759" y="2588160"/>
            <a:ext cx="10390910" cy="4970317"/>
          </a:xfrm>
          <a:prstGeom prst="rect">
            <a:avLst/>
          </a:prstGeom>
        </p:spPr>
      </p:pic>
      <p:pic>
        <p:nvPicPr>
          <p:cNvPr id="4" name="Picture 3" descr="A graph on a computer screen&#10;&#10;AI-generated content may be incorrect.">
            <a:extLst>
              <a:ext uri="{FF2B5EF4-FFF2-40B4-BE49-F238E27FC236}">
                <a16:creationId xmlns:a16="http://schemas.microsoft.com/office/drawing/2014/main" id="{A25E2D70-54BC-3067-0DE5-68C647736763}"/>
              </a:ext>
            </a:extLst>
          </p:cNvPr>
          <p:cNvPicPr>
            <a:picLocks/>
          </p:cNvPicPr>
          <p:nvPr/>
        </p:nvPicPr>
        <p:blipFill>
          <a:blip r:embed="rId3"/>
          <a:stretch>
            <a:fillRect/>
          </a:stretch>
        </p:blipFill>
        <p:spPr>
          <a:xfrm>
            <a:off x="1458292" y="7601060"/>
            <a:ext cx="9957953" cy="4987634"/>
          </a:xfrm>
          <a:prstGeom prst="rect">
            <a:avLst/>
          </a:prstGeom>
        </p:spPr>
      </p:pic>
      <p:pic>
        <p:nvPicPr>
          <p:cNvPr id="5" name="Picture 4" descr="A graph on a black background&#10;&#10;AI-generated content may be incorrect.">
            <a:extLst>
              <a:ext uri="{FF2B5EF4-FFF2-40B4-BE49-F238E27FC236}">
                <a16:creationId xmlns:a16="http://schemas.microsoft.com/office/drawing/2014/main" id="{03A53140-00F5-B212-EBB5-ED82630A6E4A}"/>
              </a:ext>
            </a:extLst>
          </p:cNvPr>
          <p:cNvPicPr>
            <a:picLocks/>
          </p:cNvPicPr>
          <p:nvPr/>
        </p:nvPicPr>
        <p:blipFill>
          <a:blip r:embed="rId4"/>
          <a:stretch>
            <a:fillRect/>
          </a:stretch>
        </p:blipFill>
        <p:spPr>
          <a:xfrm>
            <a:off x="1459388" y="2557464"/>
            <a:ext cx="9957954" cy="5004953"/>
          </a:xfrm>
          <a:prstGeom prst="rect">
            <a:avLst/>
          </a:prstGeom>
        </p:spPr>
      </p:pic>
      <p:pic>
        <p:nvPicPr>
          <p:cNvPr id="6" name="Picture 5" descr="A graph on a black background&#10;&#10;AI-generated content may be incorrect.">
            <a:extLst>
              <a:ext uri="{FF2B5EF4-FFF2-40B4-BE49-F238E27FC236}">
                <a16:creationId xmlns:a16="http://schemas.microsoft.com/office/drawing/2014/main" id="{E3B3B8C6-A80C-BD47-BADF-6EE11C05A03D}"/>
              </a:ext>
            </a:extLst>
          </p:cNvPr>
          <p:cNvPicPr>
            <a:picLocks/>
          </p:cNvPicPr>
          <p:nvPr/>
        </p:nvPicPr>
        <p:blipFill>
          <a:blip r:embed="rId5"/>
          <a:stretch>
            <a:fillRect/>
          </a:stretch>
        </p:blipFill>
        <p:spPr>
          <a:xfrm>
            <a:off x="12783422" y="7594920"/>
            <a:ext cx="10356271" cy="4987637"/>
          </a:xfrm>
          <a:prstGeom prst="rect">
            <a:avLst/>
          </a:prstGeom>
        </p:spPr>
      </p:pic>
      <p:sp>
        <p:nvSpPr>
          <p:cNvPr id="12" name="Text Placeholder 3">
            <a:extLst>
              <a:ext uri="{FF2B5EF4-FFF2-40B4-BE49-F238E27FC236}">
                <a16:creationId xmlns:a16="http://schemas.microsoft.com/office/drawing/2014/main" id="{79A0DE8E-04D9-8F01-85F2-0C704E2F4186}"/>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458470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AB747-1EC5-502A-6CF9-0901AB8EA8C9}"/>
              </a:ext>
            </a:extLst>
          </p:cNvPr>
          <p:cNvSpPr>
            <a:spLocks noGrp="1"/>
          </p:cNvSpPr>
          <p:nvPr>
            <p:ph type="title"/>
          </p:nvPr>
        </p:nvSpPr>
        <p:spPr/>
        <p:txBody>
          <a:bodyPr/>
          <a:lstStyle/>
          <a:p>
            <a:r>
              <a:rPr lang="en-US"/>
              <a:t>Option Greeks</a:t>
            </a:r>
          </a:p>
        </p:txBody>
      </p:sp>
      <p:sp>
        <p:nvSpPr>
          <p:cNvPr id="3" name="Content Placeholder 2">
            <a:extLst>
              <a:ext uri="{FF2B5EF4-FFF2-40B4-BE49-F238E27FC236}">
                <a16:creationId xmlns:a16="http://schemas.microsoft.com/office/drawing/2014/main" id="{E14BBAEF-EADC-303C-0275-20299D816B99}"/>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9F7E7138-698A-4771-AA41-513FA969BFE8}"/>
              </a:ext>
            </a:extLst>
          </p:cNvPr>
          <p:cNvSpPr/>
          <p:nvPr/>
        </p:nvSpPr>
        <p:spPr>
          <a:xfrm>
            <a:off x="914399" y="2832410"/>
            <a:ext cx="22570065"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5 Factors:</a:t>
            </a:r>
          </a:p>
        </p:txBody>
      </p:sp>
      <p:pic>
        <p:nvPicPr>
          <p:cNvPr id="5" name="Picture 2" descr="Quick guide to Options Greeks : r/Spotalpha">
            <a:extLst>
              <a:ext uri="{FF2B5EF4-FFF2-40B4-BE49-F238E27FC236}">
                <a16:creationId xmlns:a16="http://schemas.microsoft.com/office/drawing/2014/main" id="{D1B6BCFC-E820-AF22-5A87-D69EBC8ADA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300"/>
          <a:stretch/>
        </p:blipFill>
        <p:spPr bwMode="auto">
          <a:xfrm>
            <a:off x="963059" y="3591572"/>
            <a:ext cx="22502486" cy="8606770"/>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3">
            <a:extLst>
              <a:ext uri="{FF2B5EF4-FFF2-40B4-BE49-F238E27FC236}">
                <a16:creationId xmlns:a16="http://schemas.microsoft.com/office/drawing/2014/main" id="{5D90183D-643D-51EF-939C-E086AA5F3037}"/>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2317123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3BA7F-B1D0-476C-1372-81834BF7AF43}"/>
              </a:ext>
            </a:extLst>
          </p:cNvPr>
          <p:cNvSpPr>
            <a:spLocks noGrp="1"/>
          </p:cNvSpPr>
          <p:nvPr>
            <p:ph type="title"/>
          </p:nvPr>
        </p:nvSpPr>
        <p:spPr/>
        <p:txBody>
          <a:bodyPr/>
          <a:lstStyle/>
          <a:p>
            <a:r>
              <a:rPr lang="en-US"/>
              <a:t>Long Straddle</a:t>
            </a:r>
          </a:p>
        </p:txBody>
      </p:sp>
      <p:sp>
        <p:nvSpPr>
          <p:cNvPr id="3" name="Content Placeholder 2">
            <a:extLst>
              <a:ext uri="{FF2B5EF4-FFF2-40B4-BE49-F238E27FC236}">
                <a16:creationId xmlns:a16="http://schemas.microsoft.com/office/drawing/2014/main" id="{AB093392-AF30-2341-1653-41ABD54D59E9}"/>
              </a:ext>
            </a:extLst>
          </p:cNvPr>
          <p:cNvSpPr>
            <a:spLocks noGrp="1"/>
          </p:cNvSpPr>
          <p:nvPr>
            <p:ph idx="1"/>
          </p:nvPr>
        </p:nvSpPr>
        <p:spPr>
          <a:xfrm>
            <a:off x="914401" y="3538139"/>
            <a:ext cx="11169946" cy="8783003"/>
          </a:xfrm>
        </p:spPr>
        <p:txBody>
          <a:bodyPr/>
          <a:lstStyle/>
          <a:p>
            <a:pPr marL="342900" lvl="0" indent="-342900" algn="just">
              <a:lnSpc>
                <a:spcPts val="3720"/>
              </a:lnSpc>
              <a:buFont typeface="Arial" panose="020B0604020202020204" pitchFamily="34" charset="0"/>
              <a:buChar char="•"/>
            </a:pPr>
            <a:r>
              <a:rPr lang="en-US">
                <a:solidFill>
                  <a:srgbClr val="000000"/>
                </a:solidFill>
                <a:latin typeface="Garamond" panose="02020404030301010803" pitchFamily="18" charset="0"/>
                <a:ea typeface="Open Sans"/>
                <a:cs typeface="Open Sans"/>
                <a:sym typeface="Open Sans"/>
              </a:rPr>
              <a:t>Strategy: p</a:t>
            </a:r>
            <a:r>
              <a:rPr lang="en-US" sz="2800">
                <a:solidFill>
                  <a:srgbClr val="000000"/>
                </a:solidFill>
                <a:latin typeface="Garamond" panose="02020404030301010803" pitchFamily="18" charset="0"/>
                <a:ea typeface="Open Sans"/>
                <a:cs typeface="Open Sans"/>
                <a:sym typeface="Open Sans"/>
              </a:rPr>
              <a:t>urchase long call and long put with the same expiration date and strike price</a:t>
            </a:r>
            <a:r>
              <a:rPr lang="en-US">
                <a:solidFill>
                  <a:srgbClr val="000000"/>
                </a:solidFill>
                <a:latin typeface="Garamond" panose="02020404030301010803" pitchFamily="18" charset="0"/>
                <a:ea typeface="Open Sans"/>
                <a:cs typeface="Open Sans"/>
                <a:sym typeface="Open Sans"/>
              </a:rPr>
              <a:t>, m</a:t>
            </a:r>
            <a:r>
              <a:rPr lang="en-US" sz="2800">
                <a:solidFill>
                  <a:srgbClr val="000000"/>
                </a:solidFill>
                <a:latin typeface="Garamond" panose="02020404030301010803" pitchFamily="18" charset="0"/>
                <a:ea typeface="Open Sans"/>
                <a:cs typeface="Open Sans"/>
                <a:sym typeface="Open Sans"/>
              </a:rPr>
              <a:t>onitor the position and final</a:t>
            </a:r>
            <a:r>
              <a:rPr lang="en-US">
                <a:solidFill>
                  <a:srgbClr val="000000"/>
                </a:solidFill>
                <a:latin typeface="Garamond" panose="02020404030301010803" pitchFamily="18" charset="0"/>
                <a:ea typeface="Open Sans"/>
                <a:cs typeface="Open Sans"/>
                <a:sym typeface="Open Sans"/>
              </a:rPr>
              <a:t>ly exit </a:t>
            </a:r>
            <a:r>
              <a:rPr lang="en-US" sz="2800">
                <a:solidFill>
                  <a:srgbClr val="000000"/>
                </a:solidFill>
                <a:latin typeface="Garamond" panose="02020404030301010803" pitchFamily="18" charset="0"/>
                <a:ea typeface="Open Sans"/>
                <a:cs typeface="Open Sans"/>
                <a:sym typeface="Open Sans"/>
              </a:rPr>
              <a:t>both legs </a:t>
            </a:r>
          </a:p>
          <a:p>
            <a:pPr marL="342900" lvl="0" indent="-342900" algn="just">
              <a:lnSpc>
                <a:spcPts val="3720"/>
              </a:lnSpc>
              <a:buFont typeface="Arial" panose="020B0604020202020204" pitchFamily="34" charset="0"/>
              <a:buChar char="•"/>
            </a:pPr>
            <a:r>
              <a:rPr lang="en-US" sz="2800">
                <a:solidFill>
                  <a:srgbClr val="000000"/>
                </a:solidFill>
                <a:latin typeface="Garamond" panose="02020404030301010803" pitchFamily="18" charset="0"/>
                <a:ea typeface="Open Sans"/>
                <a:cs typeface="Open Sans"/>
                <a:sym typeface="Open Sans"/>
              </a:rPr>
              <a:t>Unlimited upside potential</a:t>
            </a:r>
          </a:p>
          <a:p>
            <a:pPr marL="342900" lvl="0" indent="-342900" algn="just">
              <a:lnSpc>
                <a:spcPts val="3720"/>
              </a:lnSpc>
              <a:buFont typeface="Arial" panose="020B0604020202020204" pitchFamily="34" charset="0"/>
              <a:buChar char="•"/>
            </a:pPr>
            <a:r>
              <a:rPr lang="en-US" sz="2800">
                <a:solidFill>
                  <a:srgbClr val="000000"/>
                </a:solidFill>
                <a:latin typeface="Garamond" panose="02020404030301010803" pitchFamily="18" charset="0"/>
                <a:ea typeface="Open Sans"/>
                <a:cs typeface="Open Sans"/>
                <a:sym typeface="Open Sans"/>
              </a:rPr>
              <a:t>Max loss = both premiums paid</a:t>
            </a:r>
          </a:p>
          <a:p>
            <a:pPr marL="342900" lvl="0" indent="-342900" algn="just">
              <a:lnSpc>
                <a:spcPts val="3720"/>
              </a:lnSpc>
              <a:buFont typeface="Arial" panose="020B0604020202020204" pitchFamily="34" charset="0"/>
              <a:buChar char="•"/>
            </a:pPr>
            <a:r>
              <a:rPr lang="en-US" sz="2800">
                <a:solidFill>
                  <a:srgbClr val="000000"/>
                </a:solidFill>
                <a:latin typeface="Garamond" panose="02020404030301010803" pitchFamily="18" charset="0"/>
                <a:ea typeface="Open Sans"/>
                <a:cs typeface="Open Sans"/>
                <a:sym typeface="Open Sans"/>
              </a:rPr>
              <a:t>Theta decay hurts position over time</a:t>
            </a:r>
          </a:p>
          <a:p>
            <a:pPr marL="342900" lvl="0" indent="-342900" algn="just">
              <a:lnSpc>
                <a:spcPts val="3720"/>
              </a:lnSpc>
              <a:buFont typeface="Arial" panose="020B0604020202020204" pitchFamily="34" charset="0"/>
              <a:buChar char="•"/>
            </a:pPr>
            <a:r>
              <a:rPr lang="en-US" sz="2800">
                <a:solidFill>
                  <a:srgbClr val="000000"/>
                </a:solidFill>
                <a:latin typeface="Garamond" panose="02020404030301010803" pitchFamily="18" charset="0"/>
                <a:ea typeface="Open Sans"/>
                <a:cs typeface="Open Sans"/>
                <a:sym typeface="Open Sans"/>
              </a:rPr>
              <a:t>Benefits at higher IV levels</a:t>
            </a:r>
          </a:p>
          <a:p>
            <a:endParaRPr lang="en-US">
              <a:latin typeface="Garamond" panose="02020404030301010803" pitchFamily="18" charset="0"/>
            </a:endParaRPr>
          </a:p>
        </p:txBody>
      </p:sp>
      <p:sp>
        <p:nvSpPr>
          <p:cNvPr id="4" name="Rectangle 3">
            <a:extLst>
              <a:ext uri="{FF2B5EF4-FFF2-40B4-BE49-F238E27FC236}">
                <a16:creationId xmlns:a16="http://schemas.microsoft.com/office/drawing/2014/main" id="{703AE8EA-D48F-158A-D30C-59776F7A4ECC}"/>
              </a:ext>
            </a:extLst>
          </p:cNvPr>
          <p:cNvSpPr/>
          <p:nvPr/>
        </p:nvSpPr>
        <p:spPr>
          <a:xfrm>
            <a:off x="914399" y="2832410"/>
            <a:ext cx="11186159"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Description</a:t>
            </a:r>
          </a:p>
        </p:txBody>
      </p:sp>
      <p:pic>
        <p:nvPicPr>
          <p:cNvPr id="5" name="Picture 4" descr="A graph on a black background&#10;&#10;AI-generated content may be incorrect.">
            <a:extLst>
              <a:ext uri="{FF2B5EF4-FFF2-40B4-BE49-F238E27FC236}">
                <a16:creationId xmlns:a16="http://schemas.microsoft.com/office/drawing/2014/main" id="{DEA728B2-B267-ABD5-E00E-A1D104BE6814}"/>
              </a:ext>
            </a:extLst>
          </p:cNvPr>
          <p:cNvPicPr>
            <a:picLocks noChangeAspect="1"/>
          </p:cNvPicPr>
          <p:nvPr/>
        </p:nvPicPr>
        <p:blipFill>
          <a:blip r:embed="rId3"/>
          <a:srcRect l="2371" t="-697" r="9270" b="91527"/>
          <a:stretch/>
        </p:blipFill>
        <p:spPr>
          <a:xfrm>
            <a:off x="12204497" y="2794926"/>
            <a:ext cx="12065626" cy="745433"/>
          </a:xfrm>
          <a:prstGeom prst="rect">
            <a:avLst/>
          </a:prstGeom>
        </p:spPr>
      </p:pic>
      <p:pic>
        <p:nvPicPr>
          <p:cNvPr id="7" name="Content Placeholder 6" descr="A black background with white text&#10;&#10;AI-generated content may be incorrect.">
            <a:extLst>
              <a:ext uri="{FF2B5EF4-FFF2-40B4-BE49-F238E27FC236}">
                <a16:creationId xmlns:a16="http://schemas.microsoft.com/office/drawing/2014/main" id="{CCF36671-C44C-D3A0-2A95-FAC1C7F1E175}"/>
              </a:ext>
            </a:extLst>
          </p:cNvPr>
          <p:cNvPicPr>
            <a:picLocks noChangeAspect="1"/>
          </p:cNvPicPr>
          <p:nvPr/>
        </p:nvPicPr>
        <p:blipFill>
          <a:blip r:embed="rId4"/>
          <a:stretch>
            <a:fillRect/>
          </a:stretch>
        </p:blipFill>
        <p:spPr>
          <a:xfrm>
            <a:off x="12230627" y="10541698"/>
            <a:ext cx="12067001" cy="993285"/>
          </a:xfrm>
          <a:prstGeom prst="rect">
            <a:avLst/>
          </a:prstGeom>
        </p:spPr>
      </p:pic>
      <p:sp>
        <p:nvSpPr>
          <p:cNvPr id="12" name="Text Placeholder 3">
            <a:extLst>
              <a:ext uri="{FF2B5EF4-FFF2-40B4-BE49-F238E27FC236}">
                <a16:creationId xmlns:a16="http://schemas.microsoft.com/office/drawing/2014/main" id="{8B3922C9-B0C8-4948-B901-C5B5485404A1}"/>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pic>
        <p:nvPicPr>
          <p:cNvPr id="6" name="Picture 5" descr="A graph on a black background&#10;&#10;AI-generated content may be incorrect.">
            <a:extLst>
              <a:ext uri="{FF2B5EF4-FFF2-40B4-BE49-F238E27FC236}">
                <a16:creationId xmlns:a16="http://schemas.microsoft.com/office/drawing/2014/main" id="{B74F53CD-F28E-75F6-83D5-2C2EAAD72200}"/>
              </a:ext>
            </a:extLst>
          </p:cNvPr>
          <p:cNvPicPr>
            <a:picLocks noChangeAspect="1"/>
          </p:cNvPicPr>
          <p:nvPr/>
        </p:nvPicPr>
        <p:blipFill>
          <a:blip r:embed="rId3"/>
          <a:srcRect l="812" t="5820" r="6745" b="-722"/>
          <a:stretch/>
        </p:blipFill>
        <p:spPr>
          <a:xfrm>
            <a:off x="12219559" y="3575373"/>
            <a:ext cx="12053005" cy="7021403"/>
          </a:xfrm>
          <a:prstGeom prst="rect">
            <a:avLst/>
          </a:prstGeom>
        </p:spPr>
      </p:pic>
    </p:spTree>
    <p:extLst>
      <p:ext uri="{BB962C8B-B14F-4D97-AF65-F5344CB8AC3E}">
        <p14:creationId xmlns:p14="http://schemas.microsoft.com/office/powerpoint/2010/main" val="2146322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B5C5F-429B-B114-CBE4-573D9AA86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5B3CC-6BDF-F182-0974-903D2DE42354}"/>
              </a:ext>
            </a:extLst>
          </p:cNvPr>
          <p:cNvSpPr>
            <a:spLocks noGrp="1"/>
          </p:cNvSpPr>
          <p:nvPr>
            <p:ph type="title"/>
          </p:nvPr>
        </p:nvSpPr>
        <p:spPr/>
        <p:txBody>
          <a:bodyPr/>
          <a:lstStyle/>
          <a:p>
            <a:r>
              <a:rPr lang="en-US">
                <a:latin typeface="Garamond"/>
                <a:cs typeface="Poppins SemiBold"/>
              </a:rPr>
              <a:t>Short Straddle</a:t>
            </a:r>
          </a:p>
        </p:txBody>
      </p:sp>
      <p:sp>
        <p:nvSpPr>
          <p:cNvPr id="3" name="Content Placeholder 2">
            <a:extLst>
              <a:ext uri="{FF2B5EF4-FFF2-40B4-BE49-F238E27FC236}">
                <a16:creationId xmlns:a16="http://schemas.microsoft.com/office/drawing/2014/main" id="{F87F0C2C-3660-0796-708F-C83FB73050D3}"/>
              </a:ext>
            </a:extLst>
          </p:cNvPr>
          <p:cNvSpPr>
            <a:spLocks noGrp="1"/>
          </p:cNvSpPr>
          <p:nvPr>
            <p:ph idx="1"/>
          </p:nvPr>
        </p:nvSpPr>
        <p:spPr/>
        <p:txBody>
          <a:bodyPr vert="horz" lIns="91440" tIns="45720" rIns="91440" bIns="45720" rtlCol="0" anchor="t">
            <a:normAutofit/>
          </a:bodyPr>
          <a:lstStyle/>
          <a:p>
            <a:pPr algn="just"/>
            <a:r>
              <a:rPr lang="en-US">
                <a:solidFill>
                  <a:srgbClr val="000000"/>
                </a:solidFill>
                <a:latin typeface="Garamond"/>
                <a:ea typeface="+mn-lt"/>
                <a:cs typeface="+mn-lt"/>
                <a:sym typeface="Open Sans"/>
              </a:rPr>
              <a:t>Sell a</a:t>
            </a:r>
            <a:r>
              <a:rPr lang="en-US" sz="2800">
                <a:solidFill>
                  <a:srgbClr val="000000"/>
                </a:solidFill>
                <a:latin typeface="Garamond"/>
                <a:ea typeface="+mn-lt"/>
                <a:cs typeface="+mn-lt"/>
                <a:sym typeface="Open Sans"/>
              </a:rPr>
              <a:t> call and </a:t>
            </a:r>
            <a:r>
              <a:rPr lang="en-US">
                <a:solidFill>
                  <a:srgbClr val="000000"/>
                </a:solidFill>
                <a:latin typeface="Garamond"/>
                <a:ea typeface="+mn-lt"/>
                <a:cs typeface="+mn-lt"/>
                <a:sym typeface="Open Sans"/>
              </a:rPr>
              <a:t>a </a:t>
            </a:r>
            <a:r>
              <a:rPr lang="en-US" sz="2800">
                <a:solidFill>
                  <a:srgbClr val="000000"/>
                </a:solidFill>
                <a:latin typeface="Garamond"/>
                <a:ea typeface="+mn-lt"/>
                <a:cs typeface="+mn-lt"/>
                <a:sym typeface="Open Sans"/>
              </a:rPr>
              <a:t>put with the same </a:t>
            </a:r>
            <a:r>
              <a:rPr lang="en-US">
                <a:solidFill>
                  <a:srgbClr val="000000"/>
                </a:solidFill>
                <a:latin typeface="Garamond"/>
                <a:ea typeface="+mn-lt"/>
                <a:cs typeface="+mn-lt"/>
                <a:sym typeface="Open Sans"/>
              </a:rPr>
              <a:t>strike price and </a:t>
            </a:r>
            <a:r>
              <a:rPr lang="en-US" sz="2800">
                <a:solidFill>
                  <a:srgbClr val="000000"/>
                </a:solidFill>
                <a:latin typeface="Garamond"/>
                <a:ea typeface="+mn-lt"/>
                <a:cs typeface="+mn-lt"/>
                <a:sym typeface="Open Sans"/>
              </a:rPr>
              <a:t>expiration</a:t>
            </a:r>
            <a:endParaRPr lang="en-US">
              <a:latin typeface="Garamond"/>
              <a:ea typeface="+mn-lt"/>
              <a:cs typeface="+mn-lt"/>
            </a:endParaRPr>
          </a:p>
          <a:p>
            <a:pPr algn="just"/>
            <a:r>
              <a:rPr lang="en-US">
                <a:solidFill>
                  <a:srgbClr val="000000"/>
                </a:solidFill>
                <a:latin typeface="Garamond"/>
                <a:ea typeface="+mn-lt"/>
                <a:cs typeface="+mn-lt"/>
                <a:sym typeface="Open Sans"/>
              </a:rPr>
              <a:t>Used when expecting low volatility</a:t>
            </a:r>
            <a:r>
              <a:rPr lang="en-US" sz="2800">
                <a:solidFill>
                  <a:srgbClr val="000000"/>
                </a:solidFill>
                <a:latin typeface="Garamond"/>
                <a:ea typeface="+mn-lt"/>
                <a:cs typeface="+mn-lt"/>
                <a:sym typeface="Open Sans"/>
              </a:rPr>
              <a:t> and </a:t>
            </a:r>
            <a:r>
              <a:rPr lang="en-US">
                <a:solidFill>
                  <a:srgbClr val="000000"/>
                </a:solidFill>
                <a:latin typeface="Garamond"/>
                <a:ea typeface="+mn-lt"/>
                <a:cs typeface="+mn-lt"/>
                <a:sym typeface="Open Sans"/>
              </a:rPr>
              <a:t>little </a:t>
            </a:r>
            <a:r>
              <a:rPr lang="en-US" sz="2800">
                <a:solidFill>
                  <a:srgbClr val="000000"/>
                </a:solidFill>
                <a:latin typeface="Garamond"/>
                <a:ea typeface="+mn-lt"/>
                <a:cs typeface="+mn-lt"/>
                <a:sym typeface="Open Sans"/>
              </a:rPr>
              <a:t>price</a:t>
            </a:r>
            <a:r>
              <a:rPr lang="en-US">
                <a:solidFill>
                  <a:srgbClr val="000000"/>
                </a:solidFill>
                <a:latin typeface="Garamond"/>
                <a:ea typeface="+mn-lt"/>
                <a:cs typeface="+mn-lt"/>
                <a:sym typeface="Open Sans"/>
              </a:rPr>
              <a:t> movement</a:t>
            </a:r>
            <a:endParaRPr lang="en-US">
              <a:latin typeface="Garamond"/>
            </a:endParaRPr>
          </a:p>
          <a:p>
            <a:pPr algn="just"/>
            <a:r>
              <a:rPr lang="en-US">
                <a:solidFill>
                  <a:srgbClr val="000000"/>
                </a:solidFill>
                <a:latin typeface="Garamond"/>
                <a:ea typeface="+mn-lt"/>
                <a:cs typeface="+mn-lt"/>
                <a:sym typeface="Open Sans"/>
              </a:rPr>
              <a:t>Max profit is the total premium received</a:t>
            </a:r>
            <a:endParaRPr lang="en-US">
              <a:latin typeface="Garamond"/>
              <a:ea typeface="+mn-lt"/>
              <a:cs typeface="+mn-lt"/>
            </a:endParaRPr>
          </a:p>
          <a:p>
            <a:pPr algn="just"/>
            <a:r>
              <a:rPr lang="en-US">
                <a:solidFill>
                  <a:srgbClr val="000000"/>
                </a:solidFill>
                <a:latin typeface="Garamond"/>
                <a:ea typeface="+mn-lt"/>
                <a:cs typeface="+mn-lt"/>
                <a:sym typeface="Open Sans"/>
              </a:rPr>
              <a:t>Max profit occurs if the stock finishes at the strike price</a:t>
            </a:r>
            <a:endParaRPr lang="en-US">
              <a:latin typeface="Garamond"/>
              <a:ea typeface="+mn-lt"/>
              <a:cs typeface="+mn-lt"/>
            </a:endParaRPr>
          </a:p>
          <a:p>
            <a:pPr algn="just"/>
            <a:r>
              <a:rPr lang="en-US">
                <a:solidFill>
                  <a:srgbClr val="000000"/>
                </a:solidFill>
                <a:latin typeface="Garamond"/>
                <a:ea typeface="+mn-lt"/>
                <a:cs typeface="+mn-lt"/>
                <a:sym typeface="Open Sans"/>
              </a:rPr>
              <a:t>Losses are unlimited if the stock rises sharply</a:t>
            </a:r>
            <a:endParaRPr lang="en-US">
              <a:latin typeface="Garamond"/>
            </a:endParaRPr>
          </a:p>
          <a:p>
            <a:pPr algn="just"/>
            <a:r>
              <a:rPr lang="en-US">
                <a:solidFill>
                  <a:srgbClr val="000000"/>
                </a:solidFill>
                <a:latin typeface="Garamond"/>
                <a:ea typeface="+mn-lt"/>
                <a:cs typeface="+mn-lt"/>
                <a:sym typeface="Open Sans"/>
              </a:rPr>
              <a:t>Significant losses if the stock drops sharply</a:t>
            </a:r>
            <a:endParaRPr lang="en-US">
              <a:latin typeface="Garamond"/>
            </a:endParaRPr>
          </a:p>
          <a:p>
            <a:pPr algn="just"/>
            <a:r>
              <a:rPr lang="en-US" err="1">
                <a:solidFill>
                  <a:srgbClr val="000000"/>
                </a:solidFill>
                <a:latin typeface="Garamond"/>
                <a:ea typeface="+mn-lt"/>
                <a:cs typeface="+mn-lt"/>
                <a:sym typeface="Open Sans"/>
              </a:rPr>
              <a:t>Breakevens</a:t>
            </a:r>
            <a:r>
              <a:rPr lang="en-US">
                <a:solidFill>
                  <a:srgbClr val="000000"/>
                </a:solidFill>
                <a:latin typeface="Garamond"/>
                <a:ea typeface="+mn-lt"/>
                <a:cs typeface="+mn-lt"/>
                <a:sym typeface="Open Sans"/>
              </a:rPr>
              <a:t>: strike price ± total premium received</a:t>
            </a:r>
            <a:endParaRPr lang="en-US">
              <a:latin typeface="Garamond"/>
              <a:ea typeface="+mn-lt"/>
              <a:cs typeface="+mn-lt"/>
            </a:endParaRPr>
          </a:p>
          <a:p>
            <a:pPr algn="just"/>
            <a:r>
              <a:rPr lang="en-US">
                <a:solidFill>
                  <a:srgbClr val="000000"/>
                </a:solidFill>
                <a:latin typeface="Garamond"/>
                <a:ea typeface="+mn-lt"/>
                <a:cs typeface="+mn-lt"/>
                <a:sym typeface="Open Sans"/>
              </a:rPr>
              <a:t>High risk, limited reward</a:t>
            </a:r>
            <a:endParaRPr lang="en-US">
              <a:latin typeface="Garamond"/>
              <a:ea typeface="+mn-lt"/>
              <a:cs typeface="+mn-lt"/>
            </a:endParaRPr>
          </a:p>
          <a:p>
            <a:pPr algn="just"/>
            <a:r>
              <a:rPr lang="en-US">
                <a:solidFill>
                  <a:srgbClr val="000000"/>
                </a:solidFill>
                <a:latin typeface="Garamond"/>
                <a:ea typeface="+mn-lt"/>
                <a:cs typeface="+mn-lt"/>
                <a:sym typeface="Open Sans"/>
              </a:rPr>
              <a:t>Requires substantial margin due to risk</a:t>
            </a:r>
            <a:endParaRPr lang="en-US">
              <a:latin typeface="Garamond"/>
            </a:endParaRPr>
          </a:p>
          <a:p>
            <a:pPr algn="just"/>
            <a:endParaRPr lang="en-US">
              <a:latin typeface="Aptos"/>
            </a:endParaRPr>
          </a:p>
        </p:txBody>
      </p:sp>
      <p:sp>
        <p:nvSpPr>
          <p:cNvPr id="4" name="Rectangle 3">
            <a:extLst>
              <a:ext uri="{FF2B5EF4-FFF2-40B4-BE49-F238E27FC236}">
                <a16:creationId xmlns:a16="http://schemas.microsoft.com/office/drawing/2014/main" id="{17439987-5FE7-116A-8598-0521785FD4E2}"/>
              </a:ext>
            </a:extLst>
          </p:cNvPr>
          <p:cNvSpPr/>
          <p:nvPr/>
        </p:nvSpPr>
        <p:spPr>
          <a:xfrm>
            <a:off x="914399" y="2832410"/>
            <a:ext cx="11186159"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Description</a:t>
            </a:r>
          </a:p>
        </p:txBody>
      </p:sp>
      <p:pic>
        <p:nvPicPr>
          <p:cNvPr id="7" name="Picture 6" descr="A graph on a black background&#10;&#10;AI-generated content may be incorrect.">
            <a:extLst>
              <a:ext uri="{FF2B5EF4-FFF2-40B4-BE49-F238E27FC236}">
                <a16:creationId xmlns:a16="http://schemas.microsoft.com/office/drawing/2014/main" id="{7E0EE4B9-95B5-4124-75E2-03AE8C4FAF9C}"/>
              </a:ext>
            </a:extLst>
          </p:cNvPr>
          <p:cNvPicPr>
            <a:picLocks noChangeAspect="1"/>
          </p:cNvPicPr>
          <p:nvPr/>
        </p:nvPicPr>
        <p:blipFill>
          <a:blip r:embed="rId3"/>
          <a:srcRect l="3091" t="7024" r="7517" b="587"/>
          <a:stretch/>
        </p:blipFill>
        <p:spPr>
          <a:xfrm>
            <a:off x="12147203" y="3571888"/>
            <a:ext cx="12050117" cy="7043732"/>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2F130500-28B2-F278-BA12-3A81D1D85E9E}"/>
              </a:ext>
            </a:extLst>
          </p:cNvPr>
          <p:cNvPicPr>
            <a:picLocks noChangeAspect="1"/>
          </p:cNvPicPr>
          <p:nvPr/>
        </p:nvPicPr>
        <p:blipFill>
          <a:blip r:embed="rId4"/>
          <a:stretch>
            <a:fillRect/>
          </a:stretch>
        </p:blipFill>
        <p:spPr>
          <a:xfrm>
            <a:off x="12115922" y="10648566"/>
            <a:ext cx="12098188" cy="1257300"/>
          </a:xfrm>
          <a:prstGeom prst="rect">
            <a:avLst/>
          </a:prstGeom>
        </p:spPr>
      </p:pic>
      <p:sp>
        <p:nvSpPr>
          <p:cNvPr id="12" name="Text Placeholder 3">
            <a:extLst>
              <a:ext uri="{FF2B5EF4-FFF2-40B4-BE49-F238E27FC236}">
                <a16:creationId xmlns:a16="http://schemas.microsoft.com/office/drawing/2014/main" id="{03122134-0C04-4915-6FE3-5852BD2A0643}"/>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pic>
        <p:nvPicPr>
          <p:cNvPr id="5" name="Picture 4" descr="A graph on a black background&#10;&#10;AI-generated content may be incorrect.">
            <a:extLst>
              <a:ext uri="{FF2B5EF4-FFF2-40B4-BE49-F238E27FC236}">
                <a16:creationId xmlns:a16="http://schemas.microsoft.com/office/drawing/2014/main" id="{F4118E94-DB78-6169-9B73-335C1E2204D7}"/>
              </a:ext>
            </a:extLst>
          </p:cNvPr>
          <p:cNvPicPr>
            <a:picLocks noChangeAspect="1"/>
          </p:cNvPicPr>
          <p:nvPr/>
        </p:nvPicPr>
        <p:blipFill>
          <a:blip r:embed="rId3"/>
          <a:srcRect l="3206" t="-35" r="7166" b="91250"/>
          <a:stretch/>
        </p:blipFill>
        <p:spPr>
          <a:xfrm>
            <a:off x="12136999" y="2825269"/>
            <a:ext cx="12068952" cy="688820"/>
          </a:xfrm>
          <a:prstGeom prst="rect">
            <a:avLst/>
          </a:prstGeom>
        </p:spPr>
      </p:pic>
    </p:spTree>
    <p:extLst>
      <p:ext uri="{BB962C8B-B14F-4D97-AF65-F5344CB8AC3E}">
        <p14:creationId xmlns:p14="http://schemas.microsoft.com/office/powerpoint/2010/main" val="4258139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B498C-B19F-4364-997D-C013981277DF}"/>
              </a:ext>
            </a:extLst>
          </p:cNvPr>
          <p:cNvSpPr>
            <a:spLocks noGrp="1"/>
          </p:cNvSpPr>
          <p:nvPr>
            <p:ph type="title"/>
          </p:nvPr>
        </p:nvSpPr>
        <p:spPr/>
        <p:txBody>
          <a:bodyPr/>
          <a:lstStyle/>
          <a:p>
            <a:r>
              <a:rPr lang="en-US">
                <a:latin typeface="Garamond"/>
                <a:cs typeface="Poppins SemiBold"/>
              </a:rPr>
              <a:t>Code for Straddle</a:t>
            </a:r>
            <a:endParaRPr lang="en-US"/>
          </a:p>
        </p:txBody>
      </p:sp>
      <p:sp>
        <p:nvSpPr>
          <p:cNvPr id="3" name="Content Placeholder 2">
            <a:extLst>
              <a:ext uri="{FF2B5EF4-FFF2-40B4-BE49-F238E27FC236}">
                <a16:creationId xmlns:a16="http://schemas.microsoft.com/office/drawing/2014/main" id="{1922CE3D-F95E-14CF-086B-CF511CD3C668}"/>
              </a:ext>
            </a:extLst>
          </p:cNvPr>
          <p:cNvSpPr>
            <a:spLocks noGrp="1"/>
          </p:cNvSpPr>
          <p:nvPr>
            <p:ph idx="1"/>
          </p:nvPr>
        </p:nvSpPr>
        <p:spPr/>
        <p:txBody>
          <a:bodyPr vert="horz" lIns="91440" tIns="45720" rIns="91440" bIns="45720" rtlCol="0" anchor="t">
            <a:noAutofit/>
          </a:bodyPr>
          <a:lstStyle/>
          <a:p>
            <a:r>
              <a:rPr lang="en-US">
                <a:latin typeface="Garamond"/>
                <a:ea typeface="+mn-lt"/>
                <a:cs typeface="+mn-lt"/>
              </a:rPr>
              <a:t>Calculates the total profit or loss of a long or short straddle by summing the call and put payoffs based on the position type.</a:t>
            </a:r>
            <a:endParaRPr lang="en-US">
              <a:latin typeface="Garamond"/>
            </a:endParaRPr>
          </a:p>
          <a:p>
            <a:endParaRPr lang="en-US"/>
          </a:p>
        </p:txBody>
      </p:sp>
      <p:sp>
        <p:nvSpPr>
          <p:cNvPr id="4" name="Content Placeholder 3">
            <a:extLst>
              <a:ext uri="{FF2B5EF4-FFF2-40B4-BE49-F238E27FC236}">
                <a16:creationId xmlns:a16="http://schemas.microsoft.com/office/drawing/2014/main" id="{7AA53B0A-F83F-2FBC-0DD4-37CF07EE2B37}"/>
              </a:ext>
            </a:extLst>
          </p:cNvPr>
          <p:cNvSpPr>
            <a:spLocks noGrp="1"/>
          </p:cNvSpPr>
          <p:nvPr>
            <p:ph idx="10"/>
          </p:nvPr>
        </p:nvSpPr>
        <p:spPr/>
        <p:txBody>
          <a:bodyPr vert="horz" lIns="91440" tIns="45720" rIns="91440" bIns="45720" rtlCol="0" anchor="t">
            <a:normAutofit/>
          </a:bodyPr>
          <a:lstStyle/>
          <a:p>
            <a:r>
              <a:rPr lang="en-US">
                <a:latin typeface="Garamond"/>
              </a:rPr>
              <a:t>Uses NumPy to ensure non-zero intrinsic value and generate a range of underlying prices based on user-defined parameters.</a:t>
            </a:r>
            <a:endParaRPr lang="en-US"/>
          </a:p>
        </p:txBody>
      </p:sp>
      <p:sp>
        <p:nvSpPr>
          <p:cNvPr id="5" name="Content Placeholder 4">
            <a:extLst>
              <a:ext uri="{FF2B5EF4-FFF2-40B4-BE49-F238E27FC236}">
                <a16:creationId xmlns:a16="http://schemas.microsoft.com/office/drawing/2014/main" id="{B611870A-6554-DCC3-CA15-6384E4DB19EF}"/>
              </a:ext>
            </a:extLst>
          </p:cNvPr>
          <p:cNvSpPr>
            <a:spLocks noGrp="1"/>
          </p:cNvSpPr>
          <p:nvPr>
            <p:ph idx="11"/>
          </p:nvPr>
        </p:nvSpPr>
        <p:spPr/>
        <p:txBody>
          <a:bodyPr vert="horz" lIns="91440" tIns="45720" rIns="91440" bIns="45720" rtlCol="0" anchor="t">
            <a:normAutofit/>
          </a:bodyPr>
          <a:lstStyle/>
          <a:p>
            <a:r>
              <a:rPr lang="en-US">
                <a:ea typeface="+mn-lt"/>
                <a:cs typeface="+mn-lt"/>
              </a:rPr>
              <a:t>Prompts the user for the strike price and premiums of call and put options, then returns these values as parameters.</a:t>
            </a:r>
          </a:p>
        </p:txBody>
      </p:sp>
      <p:pic>
        <p:nvPicPr>
          <p:cNvPr id="7" name="Picture 6" descr="A screen shot of a computer program&#10;&#10;AI-generated content may be incorrect.">
            <a:extLst>
              <a:ext uri="{FF2B5EF4-FFF2-40B4-BE49-F238E27FC236}">
                <a16:creationId xmlns:a16="http://schemas.microsoft.com/office/drawing/2014/main" id="{99AFB6D2-C89E-3D29-1767-F7D438299C2C}"/>
              </a:ext>
            </a:extLst>
          </p:cNvPr>
          <p:cNvPicPr>
            <a:picLocks noChangeAspect="1"/>
          </p:cNvPicPr>
          <p:nvPr/>
        </p:nvPicPr>
        <p:blipFill>
          <a:blip r:embed="rId3"/>
          <a:srcRect l="1383" t="57500" r="691" b="7692"/>
          <a:stretch/>
        </p:blipFill>
        <p:spPr>
          <a:xfrm>
            <a:off x="9170737" y="2851743"/>
            <a:ext cx="14461800" cy="3785058"/>
          </a:xfrm>
          <a:prstGeom prst="rect">
            <a:avLst/>
          </a:prstGeom>
        </p:spPr>
      </p:pic>
      <p:pic>
        <p:nvPicPr>
          <p:cNvPr id="15" name="Picture 14" descr="A screen shot of a computer code&#10;&#10;AI-generated content may be incorrect.">
            <a:extLst>
              <a:ext uri="{FF2B5EF4-FFF2-40B4-BE49-F238E27FC236}">
                <a16:creationId xmlns:a16="http://schemas.microsoft.com/office/drawing/2014/main" id="{F4B9F49C-088B-5BD5-DE4A-BA86EBF068C3}"/>
              </a:ext>
            </a:extLst>
          </p:cNvPr>
          <p:cNvPicPr>
            <a:picLocks noChangeAspect="1"/>
          </p:cNvPicPr>
          <p:nvPr/>
        </p:nvPicPr>
        <p:blipFill>
          <a:blip r:embed="rId4"/>
          <a:stretch>
            <a:fillRect/>
          </a:stretch>
        </p:blipFill>
        <p:spPr>
          <a:xfrm>
            <a:off x="9171143" y="9370236"/>
            <a:ext cx="14458950" cy="3095625"/>
          </a:xfrm>
          <a:prstGeom prst="rect">
            <a:avLst/>
          </a:prstGeom>
        </p:spPr>
      </p:pic>
      <p:pic>
        <p:nvPicPr>
          <p:cNvPr id="16" name="Picture 15" descr="A black background with green text&#10;&#10;AI-generated content may be incorrect.">
            <a:extLst>
              <a:ext uri="{FF2B5EF4-FFF2-40B4-BE49-F238E27FC236}">
                <a16:creationId xmlns:a16="http://schemas.microsoft.com/office/drawing/2014/main" id="{DC79FEC0-10D6-79E7-C2F1-65060ADD70CC}"/>
              </a:ext>
            </a:extLst>
          </p:cNvPr>
          <p:cNvPicPr>
            <a:picLocks noChangeAspect="1"/>
          </p:cNvPicPr>
          <p:nvPr/>
        </p:nvPicPr>
        <p:blipFill>
          <a:blip r:embed="rId5"/>
          <a:srcRect l="59" r="-31"/>
          <a:stretch/>
        </p:blipFill>
        <p:spPr>
          <a:xfrm>
            <a:off x="9173465" y="7029118"/>
            <a:ext cx="14462356" cy="1976134"/>
          </a:xfrm>
          <a:prstGeom prst="rect">
            <a:avLst/>
          </a:prstGeom>
        </p:spPr>
      </p:pic>
      <p:sp>
        <p:nvSpPr>
          <p:cNvPr id="18" name="Rectangle 17">
            <a:extLst>
              <a:ext uri="{FF2B5EF4-FFF2-40B4-BE49-F238E27FC236}">
                <a16:creationId xmlns:a16="http://schemas.microsoft.com/office/drawing/2014/main" id="{6BED8D24-8B78-F303-1838-1AB108CAD272}"/>
              </a:ext>
            </a:extLst>
          </p:cNvPr>
          <p:cNvSpPr/>
          <p:nvPr/>
        </p:nvSpPr>
        <p:spPr>
          <a:xfrm>
            <a:off x="1253820" y="2978324"/>
            <a:ext cx="6727650" cy="446124"/>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straddle_payoff</a:t>
            </a:r>
            <a:r>
              <a:rPr lang="en-US" sz="3200" dirty="0">
                <a:latin typeface="Garamond"/>
              </a:rPr>
              <a:t>"</a:t>
            </a:r>
            <a:endParaRPr lang="en-US" sz="3200" dirty="0">
              <a:latin typeface="Garamond" panose="02020404030301010803" pitchFamily="18" charset="0"/>
            </a:endParaRPr>
          </a:p>
        </p:txBody>
      </p:sp>
      <p:sp>
        <p:nvSpPr>
          <p:cNvPr id="22" name="Rectangle 21">
            <a:extLst>
              <a:ext uri="{FF2B5EF4-FFF2-40B4-BE49-F238E27FC236}">
                <a16:creationId xmlns:a16="http://schemas.microsoft.com/office/drawing/2014/main" id="{151E04F8-7E72-AC2A-1994-10C9BE4DA8CF}"/>
              </a:ext>
            </a:extLst>
          </p:cNvPr>
          <p:cNvSpPr/>
          <p:nvPr/>
        </p:nvSpPr>
        <p:spPr>
          <a:xfrm>
            <a:off x="1254267" y="6195185"/>
            <a:ext cx="6727650" cy="446124"/>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get_straddle_parameters</a:t>
            </a:r>
            <a:r>
              <a:rPr lang="en-US" sz="3200" dirty="0">
                <a:latin typeface="Garamond"/>
              </a:rPr>
              <a:t>"</a:t>
            </a:r>
            <a:endParaRPr lang="en-US" sz="3200" dirty="0">
              <a:latin typeface="Garamond" panose="02020404030301010803" pitchFamily="18" charset="0"/>
            </a:endParaRPr>
          </a:p>
        </p:txBody>
      </p:sp>
      <p:sp>
        <p:nvSpPr>
          <p:cNvPr id="23" name="Rectangle 22">
            <a:extLst>
              <a:ext uri="{FF2B5EF4-FFF2-40B4-BE49-F238E27FC236}">
                <a16:creationId xmlns:a16="http://schemas.microsoft.com/office/drawing/2014/main" id="{F99EC60B-2D45-F568-335F-4EA1238BC395}"/>
              </a:ext>
            </a:extLst>
          </p:cNvPr>
          <p:cNvSpPr/>
          <p:nvPr/>
        </p:nvSpPr>
        <p:spPr>
          <a:xfrm>
            <a:off x="1254715" y="9492861"/>
            <a:ext cx="6727650" cy="446124"/>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latin typeface="Garamond"/>
              </a:rPr>
              <a:t>Setting</a:t>
            </a:r>
            <a:r>
              <a:rPr lang="en-US" sz="3200">
                <a:latin typeface="Garamond"/>
                <a:ea typeface="+mn-lt"/>
                <a:cs typeface="+mn-lt"/>
              </a:rPr>
              <a:t> Up Price Range</a:t>
            </a:r>
            <a:endParaRPr lang="en-US" sz="3200" err="1">
              <a:latin typeface="Garamond"/>
            </a:endParaRPr>
          </a:p>
        </p:txBody>
      </p:sp>
      <p:sp>
        <p:nvSpPr>
          <p:cNvPr id="12" name="Text Placeholder 3">
            <a:extLst>
              <a:ext uri="{FF2B5EF4-FFF2-40B4-BE49-F238E27FC236}">
                <a16:creationId xmlns:a16="http://schemas.microsoft.com/office/drawing/2014/main" id="{BFCC064E-C5A1-21A7-7916-9928354721C2}"/>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2032194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B1B4-BD30-0B65-CB49-777896E13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F7829-1794-CC5E-16F6-1D9D55DAF893}"/>
              </a:ext>
            </a:extLst>
          </p:cNvPr>
          <p:cNvSpPr>
            <a:spLocks noGrp="1"/>
          </p:cNvSpPr>
          <p:nvPr>
            <p:ph type="title"/>
          </p:nvPr>
        </p:nvSpPr>
        <p:spPr/>
        <p:txBody>
          <a:bodyPr/>
          <a:lstStyle/>
          <a:p>
            <a:r>
              <a:rPr lang="en-US"/>
              <a:t>Covered Call</a:t>
            </a:r>
          </a:p>
        </p:txBody>
      </p:sp>
      <p:sp>
        <p:nvSpPr>
          <p:cNvPr id="3" name="Content Placeholder 2">
            <a:extLst>
              <a:ext uri="{FF2B5EF4-FFF2-40B4-BE49-F238E27FC236}">
                <a16:creationId xmlns:a16="http://schemas.microsoft.com/office/drawing/2014/main" id="{AB50B7B5-4281-1AC3-7D16-03553D6C9EC2}"/>
              </a:ext>
            </a:extLst>
          </p:cNvPr>
          <p:cNvSpPr>
            <a:spLocks noGrp="1"/>
          </p:cNvSpPr>
          <p:nvPr>
            <p:ph idx="1"/>
          </p:nvPr>
        </p:nvSpPr>
        <p:spPr/>
        <p:txBody>
          <a:bodyPr>
            <a:normAutofit/>
          </a:bodyPr>
          <a:lstStyle/>
          <a:p>
            <a:pPr marL="342900" indent="-342900">
              <a:buFont typeface="Arial" panose="020B0604020202020204" pitchFamily="34" charset="0"/>
              <a:buChar char="•"/>
            </a:pPr>
            <a:r>
              <a:rPr lang="en-US" spc="96">
                <a:solidFill>
                  <a:schemeClr val="tx1"/>
                </a:solidFill>
                <a:latin typeface="Garamond" panose="02020404030301010803" pitchFamily="18" charset="0"/>
              </a:rPr>
              <a:t>Selling a call option</a:t>
            </a:r>
          </a:p>
          <a:p>
            <a:pPr marL="342900" indent="-342900">
              <a:buFont typeface="Arial" panose="020B0604020202020204" pitchFamily="34" charset="0"/>
              <a:buChar char="•"/>
            </a:pPr>
            <a:r>
              <a:rPr lang="en-US" spc="96">
                <a:solidFill>
                  <a:schemeClr val="tx1"/>
                </a:solidFill>
                <a:latin typeface="Garamond" panose="02020404030301010803" pitchFamily="18" charset="0"/>
              </a:rPr>
              <a:t>Collect premium while limiting upside</a:t>
            </a:r>
          </a:p>
          <a:p>
            <a:pPr marL="800100" lvl="1" indent="-342900"/>
            <a:r>
              <a:rPr lang="en-US" sz="2800" spc="96">
                <a:solidFill>
                  <a:schemeClr val="tx1"/>
                </a:solidFill>
                <a:latin typeface="Garamond" panose="02020404030301010803" pitchFamily="18" charset="0"/>
              </a:rPr>
              <a:t>Best if neutral or slightly bullish</a:t>
            </a:r>
          </a:p>
          <a:p>
            <a:pPr marL="342900" indent="-342900">
              <a:buFont typeface="Arial" panose="020B0604020202020204" pitchFamily="34" charset="0"/>
              <a:buChar char="•"/>
            </a:pPr>
            <a:r>
              <a:rPr lang="en-US" spc="96">
                <a:solidFill>
                  <a:schemeClr val="tx1"/>
                </a:solidFill>
                <a:latin typeface="Garamond" panose="02020404030301010803" pitchFamily="18" charset="0"/>
              </a:rPr>
              <a:t>Cash from premium and protects the downside slightly </a:t>
            </a:r>
          </a:p>
          <a:p>
            <a:pPr marL="342900" indent="-342900">
              <a:buFont typeface="Arial" panose="020B0604020202020204" pitchFamily="34" charset="0"/>
              <a:buChar char="•"/>
            </a:pPr>
            <a:r>
              <a:rPr lang="en-US" spc="96">
                <a:solidFill>
                  <a:schemeClr val="tx1"/>
                </a:solidFill>
                <a:latin typeface="Garamond" panose="02020404030301010803" pitchFamily="18" charset="0"/>
              </a:rPr>
              <a:t>Miss out on high profits if price surges – unlimited downside</a:t>
            </a:r>
          </a:p>
          <a:p>
            <a:pPr marL="342900" indent="-342900">
              <a:buFont typeface="Arial" panose="020B0604020202020204" pitchFamily="34" charset="0"/>
              <a:buChar char="•"/>
            </a:pPr>
            <a:r>
              <a:rPr lang="en-US" spc="96">
                <a:solidFill>
                  <a:schemeClr val="tx1"/>
                </a:solidFill>
                <a:latin typeface="Garamond" panose="02020404030301010803" pitchFamily="18" charset="0"/>
              </a:rPr>
              <a:t>Low risk if stock tanks</a:t>
            </a:r>
          </a:p>
          <a:p>
            <a:pPr marL="342900" indent="-342900">
              <a:buFont typeface="Arial" panose="020B0604020202020204" pitchFamily="34" charset="0"/>
              <a:buChar char="•"/>
            </a:pPr>
            <a:r>
              <a:rPr lang="en-US" spc="96">
                <a:solidFill>
                  <a:schemeClr val="tx1"/>
                </a:solidFill>
                <a:latin typeface="Garamond" panose="02020404030301010803" pitchFamily="18" charset="0"/>
              </a:rPr>
              <a:t>Can mitigate risk by owning the underlying asset</a:t>
            </a:r>
          </a:p>
        </p:txBody>
      </p:sp>
      <p:sp>
        <p:nvSpPr>
          <p:cNvPr id="4" name="Rectangle 3">
            <a:extLst>
              <a:ext uri="{FF2B5EF4-FFF2-40B4-BE49-F238E27FC236}">
                <a16:creationId xmlns:a16="http://schemas.microsoft.com/office/drawing/2014/main" id="{9118BEED-F40D-996F-54DE-F4F180677BD4}"/>
              </a:ext>
            </a:extLst>
          </p:cNvPr>
          <p:cNvSpPr/>
          <p:nvPr/>
        </p:nvSpPr>
        <p:spPr>
          <a:xfrm>
            <a:off x="914399" y="2832410"/>
            <a:ext cx="11186159"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Description</a:t>
            </a:r>
          </a:p>
        </p:txBody>
      </p:sp>
      <p:pic>
        <p:nvPicPr>
          <p:cNvPr id="6" name="Picture 5" descr="A graph on a black background&#10;&#10;AI-generated content may be incorrect.">
            <a:extLst>
              <a:ext uri="{FF2B5EF4-FFF2-40B4-BE49-F238E27FC236}">
                <a16:creationId xmlns:a16="http://schemas.microsoft.com/office/drawing/2014/main" id="{8D274FA7-EB9D-5596-D44A-0B4381673267}"/>
              </a:ext>
            </a:extLst>
          </p:cNvPr>
          <p:cNvPicPr>
            <a:picLocks noChangeAspect="1"/>
          </p:cNvPicPr>
          <p:nvPr/>
        </p:nvPicPr>
        <p:blipFill>
          <a:blip r:embed="rId2"/>
          <a:stretch>
            <a:fillRect/>
          </a:stretch>
        </p:blipFill>
        <p:spPr>
          <a:xfrm>
            <a:off x="12439270" y="4852903"/>
            <a:ext cx="11030329" cy="6217920"/>
          </a:xfrm>
          <a:prstGeom prst="rect">
            <a:avLst/>
          </a:prstGeom>
        </p:spPr>
      </p:pic>
      <p:pic>
        <p:nvPicPr>
          <p:cNvPr id="7" name="Picture 6" descr="A black background with white text&#10;&#10;AI-generated content may be incorrect.">
            <a:extLst>
              <a:ext uri="{FF2B5EF4-FFF2-40B4-BE49-F238E27FC236}">
                <a16:creationId xmlns:a16="http://schemas.microsoft.com/office/drawing/2014/main" id="{A19DF9F5-1643-6992-3402-6F41B5B90AEA}"/>
              </a:ext>
            </a:extLst>
          </p:cNvPr>
          <p:cNvPicPr>
            <a:picLocks noChangeAspect="1"/>
          </p:cNvPicPr>
          <p:nvPr/>
        </p:nvPicPr>
        <p:blipFill>
          <a:blip r:embed="rId3"/>
          <a:stretch>
            <a:fillRect/>
          </a:stretch>
        </p:blipFill>
        <p:spPr>
          <a:xfrm>
            <a:off x="12439364" y="4219114"/>
            <a:ext cx="10997046" cy="644237"/>
          </a:xfrm>
          <a:prstGeom prst="rect">
            <a:avLst/>
          </a:prstGeom>
        </p:spPr>
      </p:pic>
      <p:pic>
        <p:nvPicPr>
          <p:cNvPr id="9" name="Picture 8" descr="A black background with white letters&#10;&#10;AI-generated content may be incorrect.">
            <a:extLst>
              <a:ext uri="{FF2B5EF4-FFF2-40B4-BE49-F238E27FC236}">
                <a16:creationId xmlns:a16="http://schemas.microsoft.com/office/drawing/2014/main" id="{0FC893CF-4A02-648A-70B7-D7F9596C8809}"/>
              </a:ext>
            </a:extLst>
          </p:cNvPr>
          <p:cNvPicPr>
            <a:picLocks noChangeAspect="1"/>
          </p:cNvPicPr>
          <p:nvPr/>
        </p:nvPicPr>
        <p:blipFill>
          <a:blip r:embed="rId4"/>
          <a:stretch>
            <a:fillRect/>
          </a:stretch>
        </p:blipFill>
        <p:spPr>
          <a:xfrm>
            <a:off x="14185037" y="11093683"/>
            <a:ext cx="7505700" cy="590550"/>
          </a:xfrm>
          <a:prstGeom prst="rect">
            <a:avLst/>
          </a:prstGeom>
        </p:spPr>
      </p:pic>
      <p:sp>
        <p:nvSpPr>
          <p:cNvPr id="13" name="Text Placeholder 3">
            <a:extLst>
              <a:ext uri="{FF2B5EF4-FFF2-40B4-BE49-F238E27FC236}">
                <a16:creationId xmlns:a16="http://schemas.microsoft.com/office/drawing/2014/main" id="{266D3164-62E7-F6FA-381E-D65AF57F7A5E}"/>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4191495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D0C5C-FD68-DC9F-0875-13F021FDAC9F}"/>
              </a:ext>
            </a:extLst>
          </p:cNvPr>
          <p:cNvSpPr>
            <a:spLocks noGrp="1"/>
          </p:cNvSpPr>
          <p:nvPr>
            <p:ph type="title"/>
          </p:nvPr>
        </p:nvSpPr>
        <p:spPr/>
        <p:txBody>
          <a:bodyPr/>
          <a:lstStyle/>
          <a:p>
            <a:r>
              <a:rPr lang="en-US">
                <a:latin typeface="Garamond"/>
                <a:cs typeface="Poppins SemiBold"/>
              </a:rPr>
              <a:t>Covered Call Code</a:t>
            </a:r>
            <a:endParaRPr lang="en-US"/>
          </a:p>
        </p:txBody>
      </p:sp>
      <p:sp>
        <p:nvSpPr>
          <p:cNvPr id="3" name="Content Placeholder 2">
            <a:extLst>
              <a:ext uri="{FF2B5EF4-FFF2-40B4-BE49-F238E27FC236}">
                <a16:creationId xmlns:a16="http://schemas.microsoft.com/office/drawing/2014/main" id="{13EE92C0-E8E3-FB36-3FF6-57AF502CE9B5}"/>
              </a:ext>
            </a:extLst>
          </p:cNvPr>
          <p:cNvSpPr>
            <a:spLocks noGrp="1"/>
          </p:cNvSpPr>
          <p:nvPr>
            <p:ph idx="1"/>
          </p:nvPr>
        </p:nvSpPr>
        <p:spPr>
          <a:xfrm>
            <a:off x="898185" y="3570564"/>
            <a:ext cx="7410929" cy="2308438"/>
          </a:xfrm>
        </p:spPr>
        <p:txBody>
          <a:bodyPr vert="horz" lIns="91440" tIns="45720" rIns="91440" bIns="45720" rtlCol="0" anchor="t">
            <a:normAutofit/>
          </a:bodyPr>
          <a:lstStyle/>
          <a:p>
            <a:r>
              <a:rPr lang="en-US">
                <a:latin typeface="Garamond"/>
              </a:rPr>
              <a:t>Calculates</a:t>
            </a:r>
            <a:r>
              <a:rPr lang="en-US">
                <a:latin typeface="Garamond"/>
                <a:ea typeface="+mn-lt"/>
                <a:cs typeface="+mn-lt"/>
              </a:rPr>
              <a:t> the net payoff of a covered call strategy by combining stock value change and short call payoff.</a:t>
            </a:r>
            <a:endParaRPr lang="en-US">
              <a:latin typeface="Garamond"/>
            </a:endParaRPr>
          </a:p>
        </p:txBody>
      </p:sp>
      <p:sp>
        <p:nvSpPr>
          <p:cNvPr id="4" name="Content Placeholder 3">
            <a:extLst>
              <a:ext uri="{FF2B5EF4-FFF2-40B4-BE49-F238E27FC236}">
                <a16:creationId xmlns:a16="http://schemas.microsoft.com/office/drawing/2014/main" id="{F161DE61-C343-7BED-AD22-8C97C305365E}"/>
              </a:ext>
            </a:extLst>
          </p:cNvPr>
          <p:cNvSpPr>
            <a:spLocks noGrp="1"/>
          </p:cNvSpPr>
          <p:nvPr>
            <p:ph idx="10"/>
          </p:nvPr>
        </p:nvSpPr>
        <p:spPr>
          <a:xfrm>
            <a:off x="898187" y="9978678"/>
            <a:ext cx="7410923" cy="2551629"/>
          </a:xfrm>
        </p:spPr>
        <p:txBody>
          <a:bodyPr vert="horz" lIns="91440" tIns="45720" rIns="91440" bIns="45720" rtlCol="0" anchor="t">
            <a:normAutofit/>
          </a:bodyPr>
          <a:lstStyle/>
          <a:p>
            <a:r>
              <a:rPr lang="en-US">
                <a:latin typeface="Garamond"/>
                <a:ea typeface="+mn-lt"/>
                <a:cs typeface="+mn-lt"/>
              </a:rPr>
              <a:t>Executes the covered call strategy, retrieves user parameters, calculates potential payoffs across a range of underlying prices, and plots the payoff.</a:t>
            </a:r>
          </a:p>
        </p:txBody>
      </p:sp>
      <p:sp>
        <p:nvSpPr>
          <p:cNvPr id="5" name="Content Placeholder 4">
            <a:extLst>
              <a:ext uri="{FF2B5EF4-FFF2-40B4-BE49-F238E27FC236}">
                <a16:creationId xmlns:a16="http://schemas.microsoft.com/office/drawing/2014/main" id="{E4298F0A-9D18-91F5-49C9-2C2762AB0277}"/>
              </a:ext>
            </a:extLst>
          </p:cNvPr>
          <p:cNvSpPr>
            <a:spLocks noGrp="1"/>
          </p:cNvSpPr>
          <p:nvPr>
            <p:ph idx="11"/>
          </p:nvPr>
        </p:nvSpPr>
        <p:spPr>
          <a:xfrm>
            <a:off x="914398" y="6806957"/>
            <a:ext cx="7394711" cy="2373290"/>
          </a:xfrm>
        </p:spPr>
        <p:txBody>
          <a:bodyPr vert="horz" lIns="91440" tIns="45720" rIns="91440" bIns="45720" rtlCol="0" anchor="t">
            <a:normAutofit/>
          </a:bodyPr>
          <a:lstStyle/>
          <a:p>
            <a:r>
              <a:rPr lang="en-US">
                <a:latin typeface="Garamond"/>
                <a:ea typeface="+mn-lt"/>
                <a:cs typeface="+mn-lt"/>
              </a:rPr>
              <a:t>Retrieves user-defined parameters for the covered call strategy, including stock price, call strike price, and call premium.</a:t>
            </a:r>
            <a:endParaRPr lang="en-US">
              <a:latin typeface="Garamond"/>
            </a:endParaRPr>
          </a:p>
        </p:txBody>
      </p:sp>
      <p:pic>
        <p:nvPicPr>
          <p:cNvPr id="10" name="Picture 9" descr="A screen shot of a computer screen&#10;&#10;AI-generated content may be incorrect.">
            <a:extLst>
              <a:ext uri="{FF2B5EF4-FFF2-40B4-BE49-F238E27FC236}">
                <a16:creationId xmlns:a16="http://schemas.microsoft.com/office/drawing/2014/main" id="{0C12F736-49DB-7719-6FCC-210DFE48950E}"/>
              </a:ext>
            </a:extLst>
          </p:cNvPr>
          <p:cNvPicPr>
            <a:picLocks noChangeAspect="1"/>
          </p:cNvPicPr>
          <p:nvPr/>
        </p:nvPicPr>
        <p:blipFill>
          <a:blip r:embed="rId2"/>
          <a:srcRect t="-755" r="26133" b="855"/>
          <a:stretch/>
        </p:blipFill>
        <p:spPr>
          <a:xfrm>
            <a:off x="9023425" y="2716193"/>
            <a:ext cx="14439293" cy="2062407"/>
          </a:xfrm>
          <a:prstGeom prst="rect">
            <a:avLst/>
          </a:prstGeom>
        </p:spPr>
      </p:pic>
      <p:pic>
        <p:nvPicPr>
          <p:cNvPr id="12" name="Picture 11" descr="A black background with green text&#10;&#10;AI-generated content may be incorrect.">
            <a:extLst>
              <a:ext uri="{FF2B5EF4-FFF2-40B4-BE49-F238E27FC236}">
                <a16:creationId xmlns:a16="http://schemas.microsoft.com/office/drawing/2014/main" id="{C61BB586-6406-EF20-CAB3-1D2142E20108}"/>
              </a:ext>
            </a:extLst>
          </p:cNvPr>
          <p:cNvPicPr>
            <a:picLocks noChangeAspect="1"/>
          </p:cNvPicPr>
          <p:nvPr/>
        </p:nvPicPr>
        <p:blipFill>
          <a:blip r:embed="rId3"/>
          <a:srcRect t="-3126" r="23594"/>
          <a:stretch/>
        </p:blipFill>
        <p:spPr>
          <a:xfrm>
            <a:off x="9018155" y="5001563"/>
            <a:ext cx="14451446" cy="2843782"/>
          </a:xfrm>
          <a:prstGeom prst="rect">
            <a:avLst/>
          </a:prstGeom>
        </p:spPr>
      </p:pic>
      <p:pic>
        <p:nvPicPr>
          <p:cNvPr id="14" name="Picture 13" descr="A screen shot of a computer code&#10;&#10;AI-generated content may be incorrect.">
            <a:extLst>
              <a:ext uri="{FF2B5EF4-FFF2-40B4-BE49-F238E27FC236}">
                <a16:creationId xmlns:a16="http://schemas.microsoft.com/office/drawing/2014/main" id="{280E8B77-A886-0922-272C-71964010CF74}"/>
              </a:ext>
            </a:extLst>
          </p:cNvPr>
          <p:cNvPicPr>
            <a:picLocks noChangeAspect="1"/>
          </p:cNvPicPr>
          <p:nvPr/>
        </p:nvPicPr>
        <p:blipFill>
          <a:blip r:embed="rId4"/>
          <a:srcRect t="73" r="2626" b="-411"/>
          <a:stretch/>
        </p:blipFill>
        <p:spPr>
          <a:xfrm>
            <a:off x="9021499" y="8099407"/>
            <a:ext cx="14445191" cy="4446780"/>
          </a:xfrm>
          <a:prstGeom prst="rect">
            <a:avLst/>
          </a:prstGeom>
        </p:spPr>
      </p:pic>
      <p:sp>
        <p:nvSpPr>
          <p:cNvPr id="18" name="Rectangle 17">
            <a:extLst>
              <a:ext uri="{FF2B5EF4-FFF2-40B4-BE49-F238E27FC236}">
                <a16:creationId xmlns:a16="http://schemas.microsoft.com/office/drawing/2014/main" id="{93BBA8FC-41C7-32CA-ABAF-FBD7F7D74ABA}"/>
              </a:ext>
            </a:extLst>
          </p:cNvPr>
          <p:cNvSpPr/>
          <p:nvPr/>
        </p:nvSpPr>
        <p:spPr>
          <a:xfrm>
            <a:off x="1092638" y="2962609"/>
            <a:ext cx="6727650" cy="446124"/>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covered_call_payoff</a:t>
            </a:r>
            <a:r>
              <a:rPr lang="en-US" sz="3200" dirty="0">
                <a:latin typeface="Garamond"/>
              </a:rPr>
              <a:t>"</a:t>
            </a:r>
            <a:endParaRPr lang="en-US" sz="3200" dirty="0">
              <a:latin typeface="Garamond" panose="02020404030301010803" pitchFamily="18" charset="0"/>
            </a:endParaRPr>
          </a:p>
        </p:txBody>
      </p:sp>
      <p:sp>
        <p:nvSpPr>
          <p:cNvPr id="19" name="Rectangle 18">
            <a:extLst>
              <a:ext uri="{FF2B5EF4-FFF2-40B4-BE49-F238E27FC236}">
                <a16:creationId xmlns:a16="http://schemas.microsoft.com/office/drawing/2014/main" id="{340B2D09-AC76-2BC5-66EA-F381BC7929CC}"/>
              </a:ext>
            </a:extLst>
          </p:cNvPr>
          <p:cNvSpPr/>
          <p:nvPr/>
        </p:nvSpPr>
        <p:spPr>
          <a:xfrm>
            <a:off x="1093086" y="6147145"/>
            <a:ext cx="6727650" cy="527188"/>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dirty="0">
                <a:latin typeface="Garamond"/>
              </a:rPr>
              <a:t>"</a:t>
            </a:r>
            <a:r>
              <a:rPr lang="en-US" sz="3200" dirty="0" err="1">
                <a:latin typeface="Garamond"/>
              </a:rPr>
              <a:t>get_covered_call_parameters</a:t>
            </a:r>
            <a:r>
              <a:rPr lang="en-US" sz="3200" dirty="0">
                <a:latin typeface="Garamond"/>
              </a:rPr>
              <a:t>"</a:t>
            </a:r>
            <a:endParaRPr lang="en-US" sz="3200" dirty="0">
              <a:latin typeface="Garamond" panose="02020404030301010803" pitchFamily="18" charset="0"/>
            </a:endParaRPr>
          </a:p>
        </p:txBody>
      </p:sp>
      <p:sp>
        <p:nvSpPr>
          <p:cNvPr id="20" name="Rectangle 19">
            <a:extLst>
              <a:ext uri="{FF2B5EF4-FFF2-40B4-BE49-F238E27FC236}">
                <a16:creationId xmlns:a16="http://schemas.microsoft.com/office/drawing/2014/main" id="{88E1303C-2765-EE7F-56F4-2AE5DD17D06B}"/>
              </a:ext>
            </a:extLst>
          </p:cNvPr>
          <p:cNvSpPr/>
          <p:nvPr/>
        </p:nvSpPr>
        <p:spPr>
          <a:xfrm>
            <a:off x="1093534" y="9493509"/>
            <a:ext cx="6727650" cy="462337"/>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latin typeface="Garamond"/>
              </a:rPr>
              <a:t>Calculating and Visualizing Payoff</a:t>
            </a:r>
            <a:endParaRPr lang="en-US" sz="3200">
              <a:latin typeface="Garamond" panose="02020404030301010803" pitchFamily="18" charset="0"/>
            </a:endParaRPr>
          </a:p>
        </p:txBody>
      </p:sp>
      <p:sp>
        <p:nvSpPr>
          <p:cNvPr id="13" name="Text Placeholder 3">
            <a:extLst>
              <a:ext uri="{FF2B5EF4-FFF2-40B4-BE49-F238E27FC236}">
                <a16:creationId xmlns:a16="http://schemas.microsoft.com/office/drawing/2014/main" id="{BC231191-87EA-E36E-57D3-3D0206E6038A}"/>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4016547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F0F3-1B86-3ABD-6C15-E0B13D75D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D089D-7FB5-CF23-E4A7-B62A83B1BDD6}"/>
              </a:ext>
            </a:extLst>
          </p:cNvPr>
          <p:cNvSpPr>
            <a:spLocks noGrp="1"/>
          </p:cNvSpPr>
          <p:nvPr>
            <p:ph type="title"/>
          </p:nvPr>
        </p:nvSpPr>
        <p:spPr/>
        <p:txBody>
          <a:bodyPr/>
          <a:lstStyle/>
          <a:p>
            <a:r>
              <a:rPr lang="en-US"/>
              <a:t>Vertical Spread</a:t>
            </a:r>
          </a:p>
        </p:txBody>
      </p:sp>
      <p:sp>
        <p:nvSpPr>
          <p:cNvPr id="3" name="Content Placeholder 2">
            <a:extLst>
              <a:ext uri="{FF2B5EF4-FFF2-40B4-BE49-F238E27FC236}">
                <a16:creationId xmlns:a16="http://schemas.microsoft.com/office/drawing/2014/main" id="{C27DD981-4D8E-609D-A89F-53A9DD5D716F}"/>
              </a:ext>
            </a:extLst>
          </p:cNvPr>
          <p:cNvSpPr>
            <a:spLocks noGrp="1"/>
          </p:cNvSpPr>
          <p:nvPr>
            <p:ph idx="1"/>
          </p:nvPr>
        </p:nvSpPr>
        <p:spPr/>
        <p:txBody>
          <a:bodyPr>
            <a:noAutofit/>
          </a:bodyPr>
          <a:lstStyle/>
          <a:p>
            <a:pPr marL="342900" indent="-342900">
              <a:buFont typeface="Arial" panose="020B0604020202020204" pitchFamily="34" charset="0"/>
              <a:buChar char="•"/>
            </a:pPr>
            <a:r>
              <a:rPr lang="en-US" spc="96">
                <a:solidFill>
                  <a:schemeClr val="tx1"/>
                </a:solidFill>
                <a:latin typeface="Garamond" panose="02020404030301010803" pitchFamily="18" charset="0"/>
              </a:rPr>
              <a:t>Bull call (debit)</a:t>
            </a:r>
          </a:p>
          <a:p>
            <a:pPr marL="800100" lvl="1" indent="-342900"/>
            <a:r>
              <a:rPr lang="en-US" sz="2800" spc="96">
                <a:solidFill>
                  <a:schemeClr val="tx1"/>
                </a:solidFill>
                <a:latin typeface="Garamond" panose="02020404030301010803" pitchFamily="18" charset="0"/>
              </a:rPr>
              <a:t>Buying a call and selling a call at a higher strike price</a:t>
            </a:r>
          </a:p>
          <a:p>
            <a:pPr marL="342900" indent="-342900"/>
            <a:r>
              <a:rPr lang="en-US" spc="96">
                <a:solidFill>
                  <a:schemeClr val="tx1"/>
                </a:solidFill>
                <a:latin typeface="Garamond" panose="02020404030301010803" pitchFamily="18" charset="0"/>
              </a:rPr>
              <a:t>Bear call (credit)</a:t>
            </a:r>
          </a:p>
          <a:p>
            <a:pPr marL="800100" lvl="1" indent="-342900"/>
            <a:r>
              <a:rPr lang="en-US" sz="2800" spc="96">
                <a:solidFill>
                  <a:schemeClr val="tx1"/>
                </a:solidFill>
                <a:latin typeface="Garamond" panose="02020404030301010803" pitchFamily="18" charset="0"/>
              </a:rPr>
              <a:t>Selling a call and buying a call at a higher strike price</a:t>
            </a:r>
          </a:p>
          <a:p>
            <a:pPr marL="342900" indent="-342900"/>
            <a:r>
              <a:rPr lang="en-US" spc="96">
                <a:solidFill>
                  <a:schemeClr val="tx1"/>
                </a:solidFill>
                <a:latin typeface="Garamond" panose="02020404030301010803" pitchFamily="18" charset="0"/>
              </a:rPr>
              <a:t>Bull put (credit)</a:t>
            </a:r>
          </a:p>
          <a:p>
            <a:pPr marL="800100" lvl="1" indent="-342900"/>
            <a:r>
              <a:rPr lang="en-US" sz="2800" spc="96">
                <a:solidFill>
                  <a:schemeClr val="tx1"/>
                </a:solidFill>
                <a:latin typeface="Garamond" panose="02020404030301010803" pitchFamily="18" charset="0"/>
              </a:rPr>
              <a:t>Selling a put and buying a put at a lower strike price</a:t>
            </a:r>
          </a:p>
          <a:p>
            <a:pPr marL="342900" indent="-342900"/>
            <a:r>
              <a:rPr lang="en-US" spc="96">
                <a:solidFill>
                  <a:schemeClr val="tx1"/>
                </a:solidFill>
                <a:latin typeface="Garamond" panose="02020404030301010803" pitchFamily="18" charset="0"/>
              </a:rPr>
              <a:t>Bear put (debit)</a:t>
            </a:r>
          </a:p>
          <a:p>
            <a:pPr marL="800100" lvl="1" indent="-342900"/>
            <a:r>
              <a:rPr lang="en-US" sz="2800" spc="96">
                <a:solidFill>
                  <a:schemeClr val="tx1"/>
                </a:solidFill>
                <a:latin typeface="Garamond" panose="02020404030301010803" pitchFamily="18" charset="0"/>
              </a:rPr>
              <a:t>Buying a put and selling a put at a lower strike price</a:t>
            </a:r>
          </a:p>
          <a:p>
            <a:pPr marL="342900" indent="-342900"/>
            <a:r>
              <a:rPr lang="en-US" spc="96">
                <a:solidFill>
                  <a:schemeClr val="tx1"/>
                </a:solidFill>
                <a:latin typeface="Garamond" panose="02020404030301010803" pitchFamily="18" charset="0"/>
              </a:rPr>
              <a:t>Credit maximum loss is the difference in strike prices less net premium, Debit maximum loss is net premium</a:t>
            </a:r>
          </a:p>
          <a:p>
            <a:pPr marL="342900" indent="-342900"/>
            <a:r>
              <a:rPr lang="en-US" spc="96">
                <a:solidFill>
                  <a:schemeClr val="tx1"/>
                </a:solidFill>
                <a:latin typeface="Garamond" panose="02020404030301010803" pitchFamily="18" charset="0"/>
              </a:rPr>
              <a:t>Reduce premium cost (great during volatile markets)</a:t>
            </a:r>
          </a:p>
          <a:p>
            <a:pPr marL="342900" indent="-342900"/>
            <a:r>
              <a:rPr lang="en-US" spc="96">
                <a:solidFill>
                  <a:schemeClr val="tx1"/>
                </a:solidFill>
                <a:latin typeface="Garamond" panose="02020404030301010803" pitchFamily="18" charset="0"/>
              </a:rPr>
              <a:t>Hedges risk by taking both sides of a position</a:t>
            </a:r>
          </a:p>
        </p:txBody>
      </p:sp>
      <p:sp>
        <p:nvSpPr>
          <p:cNvPr id="4" name="Rectangle 3">
            <a:extLst>
              <a:ext uri="{FF2B5EF4-FFF2-40B4-BE49-F238E27FC236}">
                <a16:creationId xmlns:a16="http://schemas.microsoft.com/office/drawing/2014/main" id="{1EDA0CE5-C893-99A4-6C42-64439C2FCF0E}"/>
              </a:ext>
            </a:extLst>
          </p:cNvPr>
          <p:cNvSpPr/>
          <p:nvPr/>
        </p:nvSpPr>
        <p:spPr>
          <a:xfrm>
            <a:off x="914399" y="2832410"/>
            <a:ext cx="11186159"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Description</a:t>
            </a:r>
          </a:p>
        </p:txBody>
      </p:sp>
      <p:pic>
        <p:nvPicPr>
          <p:cNvPr id="9" name="Picture 8" descr="A graph with a line&#10;&#10;AI-generated content may be incorrect.">
            <a:extLst>
              <a:ext uri="{FF2B5EF4-FFF2-40B4-BE49-F238E27FC236}">
                <a16:creationId xmlns:a16="http://schemas.microsoft.com/office/drawing/2014/main" id="{9D91D6A0-186A-ABBA-6BE5-A3EDF581DAFC}"/>
              </a:ext>
            </a:extLst>
          </p:cNvPr>
          <p:cNvPicPr>
            <a:picLocks/>
          </p:cNvPicPr>
          <p:nvPr/>
        </p:nvPicPr>
        <p:blipFill>
          <a:blip r:embed="rId2"/>
          <a:stretch>
            <a:fillRect/>
          </a:stretch>
        </p:blipFill>
        <p:spPr>
          <a:xfrm>
            <a:off x="12441935" y="4852903"/>
            <a:ext cx="11027664" cy="6217920"/>
          </a:xfrm>
          <a:prstGeom prst="rect">
            <a:avLst/>
          </a:prstGeom>
        </p:spPr>
      </p:pic>
      <p:sp>
        <p:nvSpPr>
          <p:cNvPr id="11" name="Text Placeholder 3">
            <a:extLst>
              <a:ext uri="{FF2B5EF4-FFF2-40B4-BE49-F238E27FC236}">
                <a16:creationId xmlns:a16="http://schemas.microsoft.com/office/drawing/2014/main" id="{79425753-CA25-0407-FCD5-E48F4739B709}"/>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1179016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4B28956-D954-BA2C-635E-F82C9BE358D3}"/>
              </a:ext>
            </a:extLst>
          </p:cNvPr>
          <p:cNvSpPr/>
          <p:nvPr/>
        </p:nvSpPr>
        <p:spPr>
          <a:xfrm>
            <a:off x="11678425" y="6528454"/>
            <a:ext cx="12011153" cy="35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A95DB-3338-756C-6F0E-30CB432B1406}"/>
              </a:ext>
            </a:extLst>
          </p:cNvPr>
          <p:cNvSpPr>
            <a:spLocks noGrp="1"/>
          </p:cNvSpPr>
          <p:nvPr>
            <p:ph type="title"/>
          </p:nvPr>
        </p:nvSpPr>
        <p:spPr/>
        <p:txBody>
          <a:bodyPr/>
          <a:lstStyle/>
          <a:p>
            <a:r>
              <a:rPr lang="en-US">
                <a:latin typeface="Garamond"/>
                <a:cs typeface="Poppins SemiBold"/>
              </a:rPr>
              <a:t>Code for Vertical Spread</a:t>
            </a:r>
            <a:endParaRPr lang="en-US"/>
          </a:p>
        </p:txBody>
      </p:sp>
      <p:sp>
        <p:nvSpPr>
          <p:cNvPr id="3" name="Content Placeholder 2">
            <a:extLst>
              <a:ext uri="{FF2B5EF4-FFF2-40B4-BE49-F238E27FC236}">
                <a16:creationId xmlns:a16="http://schemas.microsoft.com/office/drawing/2014/main" id="{FF93150C-6B3E-EAFF-9F20-D0EEEDFA00FC}"/>
              </a:ext>
            </a:extLst>
          </p:cNvPr>
          <p:cNvSpPr>
            <a:spLocks noGrp="1"/>
          </p:cNvSpPr>
          <p:nvPr>
            <p:ph idx="1"/>
          </p:nvPr>
        </p:nvSpPr>
        <p:spPr>
          <a:xfrm>
            <a:off x="914398" y="3570361"/>
            <a:ext cx="7272931" cy="8713732"/>
          </a:xfrm>
          <a:ln w="19050"/>
        </p:spPr>
        <p:txBody>
          <a:bodyPr vert="horz" lIns="91440" tIns="45720" rIns="91440" bIns="45720" rtlCol="0" anchor="t">
            <a:normAutofit/>
          </a:bodyPr>
          <a:lstStyle/>
          <a:p>
            <a:r>
              <a:rPr lang="en-US">
                <a:latin typeface="Garamond"/>
                <a:ea typeface="+mn-lt"/>
                <a:cs typeface="+mn-lt"/>
              </a:rPr>
              <a:t>Defines four functions to calculate net payoffs for vertical spread strategies: bull call, bear put, bear call, and bull put spreads.</a:t>
            </a:r>
            <a:endParaRPr lang="en-US">
              <a:latin typeface="Garamond"/>
            </a:endParaRPr>
          </a:p>
          <a:p>
            <a:r>
              <a:rPr lang="en-US">
                <a:latin typeface="Garamond"/>
                <a:ea typeface="+mn-lt"/>
                <a:cs typeface="+mn-lt"/>
              </a:rPr>
              <a:t>Each strategy combines a long and short position on the same option type (call or put) at different strike prices.</a:t>
            </a:r>
            <a:endParaRPr lang="en-US">
              <a:latin typeface="Garamond"/>
            </a:endParaRPr>
          </a:p>
          <a:p>
            <a:r>
              <a:rPr lang="en-US">
                <a:latin typeface="Garamond"/>
                <a:ea typeface="+mn-lt"/>
                <a:cs typeface="+mn-lt"/>
              </a:rPr>
              <a:t>Uses </a:t>
            </a:r>
            <a:r>
              <a:rPr lang="en-US" err="1">
                <a:latin typeface="Garamond"/>
              </a:rPr>
              <a:t>call_payoff</a:t>
            </a:r>
            <a:r>
              <a:rPr lang="en-US">
                <a:latin typeface="Garamond"/>
                <a:ea typeface="+mn-lt"/>
                <a:cs typeface="+mn-lt"/>
              </a:rPr>
              <a:t> and </a:t>
            </a:r>
            <a:r>
              <a:rPr lang="en-US" err="1">
                <a:latin typeface="Garamond"/>
              </a:rPr>
              <a:t>put_payoff</a:t>
            </a:r>
            <a:r>
              <a:rPr lang="en-US">
                <a:latin typeface="Garamond"/>
                <a:ea typeface="+mn-lt"/>
                <a:cs typeface="+mn-lt"/>
              </a:rPr>
              <a:t> helper functions to calculate individual leg payoffs, accounting for premiums and option type.</a:t>
            </a:r>
            <a:endParaRPr lang="en-US">
              <a:latin typeface="Garamond"/>
            </a:endParaRPr>
          </a:p>
          <a:p>
            <a:r>
              <a:rPr lang="en-US">
                <a:latin typeface="Garamond"/>
                <a:ea typeface="+mn-lt"/>
                <a:cs typeface="+mn-lt"/>
              </a:rPr>
              <a:t>Returns the total strategy payoff at expiration by summing the long and short leg results.</a:t>
            </a:r>
            <a:endParaRPr lang="en-US">
              <a:latin typeface="Garamond"/>
            </a:endParaRPr>
          </a:p>
          <a:p>
            <a:endParaRPr lang="en-US"/>
          </a:p>
        </p:txBody>
      </p:sp>
      <p:sp>
        <p:nvSpPr>
          <p:cNvPr id="8" name="Rectangle 7">
            <a:extLst>
              <a:ext uri="{FF2B5EF4-FFF2-40B4-BE49-F238E27FC236}">
                <a16:creationId xmlns:a16="http://schemas.microsoft.com/office/drawing/2014/main" id="{34F80FBE-7609-2464-3CC8-BE034C45D485}"/>
              </a:ext>
            </a:extLst>
          </p:cNvPr>
          <p:cNvSpPr/>
          <p:nvPr/>
        </p:nvSpPr>
        <p:spPr>
          <a:xfrm>
            <a:off x="8205062" y="2651454"/>
            <a:ext cx="16149209" cy="36393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 shot of a computer&#10;&#10;AI-generated content may be incorrect.">
            <a:extLst>
              <a:ext uri="{FF2B5EF4-FFF2-40B4-BE49-F238E27FC236}">
                <a16:creationId xmlns:a16="http://schemas.microsoft.com/office/drawing/2014/main" id="{1A01DD7F-8348-127F-AC63-63234553AB93}"/>
              </a:ext>
            </a:extLst>
          </p:cNvPr>
          <p:cNvPicPr>
            <a:picLocks noChangeAspect="1"/>
          </p:cNvPicPr>
          <p:nvPr/>
        </p:nvPicPr>
        <p:blipFill>
          <a:blip r:embed="rId2"/>
          <a:stretch>
            <a:fillRect/>
          </a:stretch>
        </p:blipFill>
        <p:spPr>
          <a:xfrm>
            <a:off x="8827726" y="2840763"/>
            <a:ext cx="15120505" cy="1749136"/>
          </a:xfrm>
          <a:prstGeom prst="rect">
            <a:avLst/>
          </a:prstGeom>
        </p:spPr>
      </p:pic>
      <p:pic>
        <p:nvPicPr>
          <p:cNvPr id="10" name="Picture 9" descr="A screen shot of a computer code&#10;&#10;AI-generated content may be incorrect.">
            <a:extLst>
              <a:ext uri="{FF2B5EF4-FFF2-40B4-BE49-F238E27FC236}">
                <a16:creationId xmlns:a16="http://schemas.microsoft.com/office/drawing/2014/main" id="{DEE93A48-65C4-4A0F-85E6-A1DEFBB383F0}"/>
              </a:ext>
            </a:extLst>
          </p:cNvPr>
          <p:cNvPicPr>
            <a:picLocks noChangeAspect="1"/>
          </p:cNvPicPr>
          <p:nvPr/>
        </p:nvPicPr>
        <p:blipFill>
          <a:blip r:embed="rId3"/>
          <a:stretch>
            <a:fillRect/>
          </a:stretch>
        </p:blipFill>
        <p:spPr>
          <a:xfrm>
            <a:off x="8814197" y="5404917"/>
            <a:ext cx="15172459" cy="1754332"/>
          </a:xfrm>
          <a:prstGeom prst="rect">
            <a:avLst/>
          </a:prstGeom>
        </p:spPr>
      </p:pic>
      <p:pic>
        <p:nvPicPr>
          <p:cNvPr id="12" name="Picture 11" descr="A screen shot of a computer&#10;&#10;AI-generated content may be incorrect.">
            <a:extLst>
              <a:ext uri="{FF2B5EF4-FFF2-40B4-BE49-F238E27FC236}">
                <a16:creationId xmlns:a16="http://schemas.microsoft.com/office/drawing/2014/main" id="{D725C88D-013E-3F10-5266-34873F254C77}"/>
              </a:ext>
            </a:extLst>
          </p:cNvPr>
          <p:cNvPicPr>
            <a:picLocks noChangeAspect="1"/>
          </p:cNvPicPr>
          <p:nvPr/>
        </p:nvPicPr>
        <p:blipFill>
          <a:blip r:embed="rId4"/>
          <a:stretch>
            <a:fillRect/>
          </a:stretch>
        </p:blipFill>
        <p:spPr>
          <a:xfrm>
            <a:off x="8812680" y="7974267"/>
            <a:ext cx="15156873" cy="1749136"/>
          </a:xfrm>
          <a:prstGeom prst="rect">
            <a:avLst/>
          </a:prstGeom>
        </p:spPr>
      </p:pic>
      <p:sp>
        <p:nvSpPr>
          <p:cNvPr id="16" name="Rectangle 15">
            <a:extLst>
              <a:ext uri="{FF2B5EF4-FFF2-40B4-BE49-F238E27FC236}">
                <a16:creationId xmlns:a16="http://schemas.microsoft.com/office/drawing/2014/main" id="{D719DD96-3A3D-0F35-66F0-143AA7F5F723}"/>
              </a:ext>
            </a:extLst>
          </p:cNvPr>
          <p:cNvSpPr/>
          <p:nvPr/>
        </p:nvSpPr>
        <p:spPr>
          <a:xfrm>
            <a:off x="1210648" y="2953638"/>
            <a:ext cx="6302433" cy="460860"/>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latin typeface="Garamond"/>
              </a:rPr>
              <a:t>Defining Spread Payoff Functions  </a:t>
            </a:r>
            <a:endParaRPr lang="en-US" sz="3200">
              <a:latin typeface="Garamond" panose="02020404030301010803" pitchFamily="18" charset="0"/>
            </a:endParaRPr>
          </a:p>
        </p:txBody>
      </p:sp>
      <p:pic>
        <p:nvPicPr>
          <p:cNvPr id="14" name="Picture 13" descr="A screen shot of a computer code&#10;&#10;AI-generated content may be incorrect.">
            <a:extLst>
              <a:ext uri="{FF2B5EF4-FFF2-40B4-BE49-F238E27FC236}">
                <a16:creationId xmlns:a16="http://schemas.microsoft.com/office/drawing/2014/main" id="{9F5E5E94-EEF3-D0CA-C143-4AA0E554A1A2}"/>
              </a:ext>
            </a:extLst>
          </p:cNvPr>
          <p:cNvPicPr>
            <a:picLocks noChangeAspect="1"/>
          </p:cNvPicPr>
          <p:nvPr/>
        </p:nvPicPr>
        <p:blipFill>
          <a:blip r:embed="rId5"/>
          <a:stretch>
            <a:fillRect/>
          </a:stretch>
        </p:blipFill>
        <p:spPr>
          <a:xfrm>
            <a:off x="8827726" y="10538420"/>
            <a:ext cx="15179387" cy="1745673"/>
          </a:xfrm>
          <a:prstGeom prst="rect">
            <a:avLst/>
          </a:prstGeom>
        </p:spPr>
      </p:pic>
      <p:sp>
        <p:nvSpPr>
          <p:cNvPr id="23" name="Text Placeholder 3">
            <a:extLst>
              <a:ext uri="{FF2B5EF4-FFF2-40B4-BE49-F238E27FC236}">
                <a16:creationId xmlns:a16="http://schemas.microsoft.com/office/drawing/2014/main" id="{1DBBA11D-5F95-DA25-85DA-F0F4EA3FD9D8}"/>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3030873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88EF0-5116-6771-33B8-F7F8936961C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674AB8C-DFFB-F6B5-9990-AD36EF1373DC}"/>
              </a:ext>
            </a:extLst>
          </p:cNvPr>
          <p:cNvSpPr/>
          <p:nvPr/>
        </p:nvSpPr>
        <p:spPr>
          <a:xfrm>
            <a:off x="11678425" y="6528454"/>
            <a:ext cx="12011153" cy="35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136DF-12E2-CD7B-9C48-89D170F2CD81}"/>
              </a:ext>
            </a:extLst>
          </p:cNvPr>
          <p:cNvSpPr>
            <a:spLocks noGrp="1"/>
          </p:cNvSpPr>
          <p:nvPr>
            <p:ph type="title"/>
          </p:nvPr>
        </p:nvSpPr>
        <p:spPr/>
        <p:txBody>
          <a:bodyPr/>
          <a:lstStyle/>
          <a:p>
            <a:r>
              <a:rPr lang="en-US">
                <a:latin typeface="Garamond"/>
                <a:cs typeface="Poppins SemiBold"/>
              </a:rPr>
              <a:t>Code for Vertical Spread</a:t>
            </a:r>
            <a:endParaRPr lang="en-US"/>
          </a:p>
        </p:txBody>
      </p:sp>
      <p:sp>
        <p:nvSpPr>
          <p:cNvPr id="3" name="Content Placeholder 2">
            <a:extLst>
              <a:ext uri="{FF2B5EF4-FFF2-40B4-BE49-F238E27FC236}">
                <a16:creationId xmlns:a16="http://schemas.microsoft.com/office/drawing/2014/main" id="{E8D54D9B-608E-E7CB-AF92-5EB4F06E5D41}"/>
              </a:ext>
            </a:extLst>
          </p:cNvPr>
          <p:cNvSpPr>
            <a:spLocks noGrp="1"/>
          </p:cNvSpPr>
          <p:nvPr>
            <p:ph idx="1"/>
          </p:nvPr>
        </p:nvSpPr>
        <p:spPr>
          <a:xfrm>
            <a:off x="914400" y="3593913"/>
            <a:ext cx="7073801" cy="8713732"/>
          </a:xfrm>
        </p:spPr>
        <p:txBody>
          <a:bodyPr vert="horz" lIns="91440" tIns="45720" rIns="91440" bIns="45720" rtlCol="0" anchor="t">
            <a:normAutofit/>
          </a:bodyPr>
          <a:lstStyle/>
          <a:p>
            <a:r>
              <a:rPr lang="en-US">
                <a:latin typeface="Garamond"/>
                <a:ea typeface="+mn-lt"/>
                <a:cs typeface="+mn-lt"/>
              </a:rPr>
              <a:t>Gathers key spread parameters by prompting the user for strike prices and premiums based on the selected strategy</a:t>
            </a:r>
          </a:p>
          <a:p>
            <a:r>
              <a:rPr lang="en-US">
                <a:latin typeface="Garamond"/>
                <a:ea typeface="+mn-lt"/>
                <a:cs typeface="+mn-lt"/>
              </a:rPr>
              <a:t>Provides contextual input prompts using if/</a:t>
            </a:r>
            <a:r>
              <a:rPr lang="en-US" err="1">
                <a:latin typeface="Garamond"/>
                <a:ea typeface="+mn-lt"/>
                <a:cs typeface="+mn-lt"/>
              </a:rPr>
              <a:t>elif</a:t>
            </a:r>
            <a:r>
              <a:rPr lang="en-US">
                <a:latin typeface="Garamond"/>
                <a:ea typeface="+mn-lt"/>
                <a:cs typeface="+mn-lt"/>
              </a:rPr>
              <a:t> logic tailored to bull call, bear put, bear call, or bull put spreads</a:t>
            </a:r>
          </a:p>
          <a:p>
            <a:r>
              <a:rPr lang="en-US">
                <a:latin typeface="Garamond"/>
                <a:ea typeface="+mn-lt"/>
                <a:cs typeface="+mn-lt"/>
              </a:rPr>
              <a:t>Ensures numerical format by converting inputs to floats for accurate calculations</a:t>
            </a:r>
            <a:endParaRPr lang="en-US">
              <a:latin typeface="Garamond"/>
            </a:endParaRPr>
          </a:p>
          <a:p>
            <a:r>
              <a:rPr lang="en-US">
                <a:latin typeface="Garamond"/>
                <a:ea typeface="+mn-lt"/>
                <a:cs typeface="+mn-lt"/>
              </a:rPr>
              <a:t>Returns a structured output as a tuple for use in payoff analysis functions</a:t>
            </a:r>
            <a:endParaRPr lang="en-US">
              <a:latin typeface="Garamond"/>
            </a:endParaRPr>
          </a:p>
          <a:p>
            <a:endParaRPr lang="en-US">
              <a:latin typeface="Garamond"/>
            </a:endParaRPr>
          </a:p>
          <a:p>
            <a:endParaRPr lang="en-US"/>
          </a:p>
        </p:txBody>
      </p:sp>
      <p:sp>
        <p:nvSpPr>
          <p:cNvPr id="8" name="Rectangle 7">
            <a:extLst>
              <a:ext uri="{FF2B5EF4-FFF2-40B4-BE49-F238E27FC236}">
                <a16:creationId xmlns:a16="http://schemas.microsoft.com/office/drawing/2014/main" id="{FB45C55E-478C-5F68-74A9-F41ABCD08725}"/>
              </a:ext>
            </a:extLst>
          </p:cNvPr>
          <p:cNvSpPr/>
          <p:nvPr/>
        </p:nvSpPr>
        <p:spPr>
          <a:xfrm>
            <a:off x="8011062" y="2675118"/>
            <a:ext cx="4391153" cy="35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ACE1292-10FB-C5D9-2006-FB52CDC406EF}"/>
              </a:ext>
            </a:extLst>
          </p:cNvPr>
          <p:cNvSpPr/>
          <p:nvPr/>
        </p:nvSpPr>
        <p:spPr>
          <a:xfrm>
            <a:off x="1210648" y="2953638"/>
            <a:ext cx="6302433" cy="460860"/>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dirty="0">
                <a:latin typeface="Garamond"/>
              </a:rPr>
              <a:t>"</a:t>
            </a:r>
            <a:r>
              <a:rPr lang="en-US" sz="3200" dirty="0" err="1">
                <a:latin typeface="Garamond"/>
              </a:rPr>
              <a:t>get_vertical_spread_parameters</a:t>
            </a:r>
            <a:r>
              <a:rPr lang="en-US" sz="3200" dirty="0">
                <a:latin typeface="Garamond"/>
              </a:rPr>
              <a:t>"  </a:t>
            </a:r>
            <a:endParaRPr lang="en-US" sz="3200" dirty="0">
              <a:latin typeface="Garamond" panose="02020404030301010803" pitchFamily="18" charset="0"/>
            </a:endParaRPr>
          </a:p>
        </p:txBody>
      </p:sp>
      <p:pic>
        <p:nvPicPr>
          <p:cNvPr id="4" name="Picture 3" descr="A screenshot of a computer program&#10;&#10;AI-generated content may be incorrect.">
            <a:extLst>
              <a:ext uri="{FF2B5EF4-FFF2-40B4-BE49-F238E27FC236}">
                <a16:creationId xmlns:a16="http://schemas.microsoft.com/office/drawing/2014/main" id="{7EF1EF18-56C8-6333-BDA0-B541108764BA}"/>
              </a:ext>
            </a:extLst>
          </p:cNvPr>
          <p:cNvPicPr>
            <a:picLocks noChangeAspect="1"/>
          </p:cNvPicPr>
          <p:nvPr/>
        </p:nvPicPr>
        <p:blipFill>
          <a:blip r:embed="rId2"/>
          <a:stretch>
            <a:fillRect/>
          </a:stretch>
        </p:blipFill>
        <p:spPr>
          <a:xfrm>
            <a:off x="8679685" y="2738048"/>
            <a:ext cx="15432232" cy="9634105"/>
          </a:xfrm>
          <a:prstGeom prst="rect">
            <a:avLst/>
          </a:prstGeom>
        </p:spPr>
      </p:pic>
      <p:sp>
        <p:nvSpPr>
          <p:cNvPr id="15" name="Text Placeholder 3">
            <a:extLst>
              <a:ext uri="{FF2B5EF4-FFF2-40B4-BE49-F238E27FC236}">
                <a16:creationId xmlns:a16="http://schemas.microsoft.com/office/drawing/2014/main" id="{8A8B48F8-188C-D672-62D0-A8611C762995}"/>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2413267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1F52D-7EBF-37B6-090D-CD313CBF149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A933D5F-D3BB-D1DD-9140-D512CF090995}"/>
              </a:ext>
            </a:extLst>
          </p:cNvPr>
          <p:cNvSpPr/>
          <p:nvPr/>
        </p:nvSpPr>
        <p:spPr>
          <a:xfrm>
            <a:off x="12040699" y="2175203"/>
            <a:ext cx="12011153" cy="35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EC6FC1-03BC-09F6-4729-7DF66B9B0855}"/>
              </a:ext>
            </a:extLst>
          </p:cNvPr>
          <p:cNvSpPr/>
          <p:nvPr/>
        </p:nvSpPr>
        <p:spPr>
          <a:xfrm>
            <a:off x="11678425" y="6528454"/>
            <a:ext cx="12011153" cy="35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D54323-A6B9-6DDF-C68E-9146985D7D3B}"/>
              </a:ext>
            </a:extLst>
          </p:cNvPr>
          <p:cNvSpPr>
            <a:spLocks noGrp="1"/>
          </p:cNvSpPr>
          <p:nvPr>
            <p:ph type="title"/>
          </p:nvPr>
        </p:nvSpPr>
        <p:spPr/>
        <p:txBody>
          <a:bodyPr/>
          <a:lstStyle/>
          <a:p>
            <a:r>
              <a:rPr lang="en-US">
                <a:latin typeface="Garamond"/>
                <a:cs typeface="Poppins SemiBold"/>
              </a:rPr>
              <a:t>Code for Vertical Spread</a:t>
            </a:r>
            <a:endParaRPr lang="en-US"/>
          </a:p>
        </p:txBody>
      </p:sp>
      <p:sp>
        <p:nvSpPr>
          <p:cNvPr id="8" name="Rectangle 7">
            <a:extLst>
              <a:ext uri="{FF2B5EF4-FFF2-40B4-BE49-F238E27FC236}">
                <a16:creationId xmlns:a16="http://schemas.microsoft.com/office/drawing/2014/main" id="{FF6AC855-8324-E368-0BFE-1EA3CA486947}"/>
              </a:ext>
            </a:extLst>
          </p:cNvPr>
          <p:cNvSpPr/>
          <p:nvPr/>
        </p:nvSpPr>
        <p:spPr>
          <a:xfrm>
            <a:off x="7860824" y="2689771"/>
            <a:ext cx="4304563" cy="3518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6C49C4D-CFAC-12E5-DFC6-74AB210B4C1B}"/>
              </a:ext>
            </a:extLst>
          </p:cNvPr>
          <p:cNvSpPr/>
          <p:nvPr/>
        </p:nvSpPr>
        <p:spPr>
          <a:xfrm>
            <a:off x="1210648" y="2919002"/>
            <a:ext cx="6423659" cy="599405"/>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latin typeface="Garamond"/>
                <a:ea typeface="+mn-lt"/>
                <a:cs typeface="+mn-lt"/>
              </a:rPr>
              <a:t>Generate Price Range</a:t>
            </a:r>
            <a:r>
              <a:rPr lang="en-US" sz="3200">
                <a:latin typeface="Garamond"/>
              </a:rPr>
              <a:t> </a:t>
            </a:r>
            <a:endParaRPr lang="en-US" sz="3200">
              <a:latin typeface="Garamond" panose="02020404030301010803" pitchFamily="18" charset="0"/>
            </a:endParaRPr>
          </a:p>
        </p:txBody>
      </p:sp>
      <p:pic>
        <p:nvPicPr>
          <p:cNvPr id="5" name="Picture 4" descr="A screen shot of a computer&#10;&#10;AI-generated content may be incorrect.">
            <a:extLst>
              <a:ext uri="{FF2B5EF4-FFF2-40B4-BE49-F238E27FC236}">
                <a16:creationId xmlns:a16="http://schemas.microsoft.com/office/drawing/2014/main" id="{BC9813D5-9A48-265E-C3B8-1A6D225BA765}"/>
              </a:ext>
            </a:extLst>
          </p:cNvPr>
          <p:cNvPicPr>
            <a:picLocks noChangeAspect="1"/>
          </p:cNvPicPr>
          <p:nvPr/>
        </p:nvPicPr>
        <p:blipFill>
          <a:blip r:embed="rId2"/>
          <a:stretch>
            <a:fillRect/>
          </a:stretch>
        </p:blipFill>
        <p:spPr>
          <a:xfrm>
            <a:off x="8269647" y="2821855"/>
            <a:ext cx="15944849" cy="2647947"/>
          </a:xfrm>
          <a:prstGeom prst="rect">
            <a:avLst/>
          </a:prstGeom>
        </p:spPr>
      </p:pic>
      <p:pic>
        <p:nvPicPr>
          <p:cNvPr id="6" name="Picture 5" descr="A screen shot of a computer program&#10;&#10;AI-generated content may be incorrect.">
            <a:extLst>
              <a:ext uri="{FF2B5EF4-FFF2-40B4-BE49-F238E27FC236}">
                <a16:creationId xmlns:a16="http://schemas.microsoft.com/office/drawing/2014/main" id="{7F6E3486-BE49-359E-FBCC-B970AB88BEB5}"/>
              </a:ext>
            </a:extLst>
          </p:cNvPr>
          <p:cNvPicPr>
            <a:picLocks noChangeAspect="1"/>
          </p:cNvPicPr>
          <p:nvPr/>
        </p:nvPicPr>
        <p:blipFill>
          <a:blip r:embed="rId3"/>
          <a:stretch>
            <a:fillRect/>
          </a:stretch>
        </p:blipFill>
        <p:spPr>
          <a:xfrm>
            <a:off x="8294109" y="5924299"/>
            <a:ext cx="15911945" cy="4933949"/>
          </a:xfrm>
          <a:prstGeom prst="rect">
            <a:avLst/>
          </a:prstGeom>
        </p:spPr>
      </p:pic>
      <p:sp>
        <p:nvSpPr>
          <p:cNvPr id="10" name="Content Placeholder 2">
            <a:extLst>
              <a:ext uri="{FF2B5EF4-FFF2-40B4-BE49-F238E27FC236}">
                <a16:creationId xmlns:a16="http://schemas.microsoft.com/office/drawing/2014/main" id="{A214FB99-76EF-4E98-834F-B758B956E430}"/>
              </a:ext>
            </a:extLst>
          </p:cNvPr>
          <p:cNvSpPr txBox="1">
            <a:spLocks/>
          </p:cNvSpPr>
          <p:nvPr/>
        </p:nvSpPr>
        <p:spPr>
          <a:xfrm>
            <a:off x="914399" y="8510370"/>
            <a:ext cx="6928106" cy="3834029"/>
          </a:xfrm>
          <a:prstGeom prst="rect">
            <a:avLst/>
          </a:prstGeom>
          <a:solidFill>
            <a:srgbClr val="E8E8E8"/>
          </a:solidFill>
          <a:ln w="19050" cap="flat" cmpd="sng" algn="ctr">
            <a:solidFill>
              <a:srgbClr val="0C1542"/>
            </a:solidFill>
            <a:prstDash val="solid"/>
            <a:miter lim="800000"/>
          </a:ln>
          <a:effectLst/>
        </p:spPr>
        <p:txBody>
          <a:bodyPr vert="horz" lIns="91440" tIns="45720" rIns="91440" bIns="45720" rtlCol="0" anchor="t">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dk1"/>
                </a:solidFill>
                <a:latin typeface="+mn-lt"/>
                <a:ea typeface="+mn-ea"/>
                <a:cs typeface="+mn-cs"/>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a:latin typeface="Garamond"/>
                <a:ea typeface="+mn-lt"/>
                <a:cs typeface="+mn-lt"/>
              </a:rPr>
              <a:t>Calculates and displays option parameters based on the selected spread type.</a:t>
            </a:r>
          </a:p>
          <a:p>
            <a:r>
              <a:rPr lang="en-US">
                <a:latin typeface="Garamond"/>
                <a:ea typeface="+mn-lt"/>
                <a:cs typeface="+mn-lt"/>
              </a:rPr>
              <a:t>Computes payoff for each underlying price and generates a payoff plot.</a:t>
            </a:r>
          </a:p>
          <a:p>
            <a:r>
              <a:rPr lang="en-US">
                <a:latin typeface="Garamond"/>
                <a:ea typeface="+mn-lt"/>
                <a:cs typeface="+mn-lt"/>
              </a:rPr>
              <a:t>Displays maximum profit, loss, and break-even point.</a:t>
            </a:r>
          </a:p>
          <a:p>
            <a:endParaRPr lang="en-US">
              <a:latin typeface="Garamond"/>
              <a:ea typeface="+mn-lt"/>
              <a:cs typeface="+mn-lt"/>
            </a:endParaRPr>
          </a:p>
          <a:p>
            <a:endParaRPr lang="en-US">
              <a:latin typeface="Garamond"/>
              <a:ea typeface="+mn-lt"/>
              <a:cs typeface="+mn-lt"/>
            </a:endParaRPr>
          </a:p>
          <a:p>
            <a:endParaRPr lang="en-US">
              <a:latin typeface="Garamond"/>
            </a:endParaRPr>
          </a:p>
        </p:txBody>
      </p:sp>
      <p:sp>
        <p:nvSpPr>
          <p:cNvPr id="11" name="Rectangle 10">
            <a:extLst>
              <a:ext uri="{FF2B5EF4-FFF2-40B4-BE49-F238E27FC236}">
                <a16:creationId xmlns:a16="http://schemas.microsoft.com/office/drawing/2014/main" id="{4AFA3504-857C-1315-E6D7-3F3EE665BB58}"/>
              </a:ext>
            </a:extLst>
          </p:cNvPr>
          <p:cNvSpPr/>
          <p:nvPr/>
        </p:nvSpPr>
        <p:spPr>
          <a:xfrm>
            <a:off x="911958" y="7789740"/>
            <a:ext cx="6928107" cy="720631"/>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a:latin typeface="Garamond"/>
              </a:rPr>
              <a:t>Spread Payoff Calculations  </a:t>
            </a:r>
            <a:endParaRPr lang="en-US" sz="3200">
              <a:latin typeface="Garamond" panose="02020404030301010803" pitchFamily="18" charset="0"/>
            </a:endParaRPr>
          </a:p>
        </p:txBody>
      </p:sp>
      <p:sp>
        <p:nvSpPr>
          <p:cNvPr id="3" name="Content Placeholder 2">
            <a:extLst>
              <a:ext uri="{FF2B5EF4-FFF2-40B4-BE49-F238E27FC236}">
                <a16:creationId xmlns:a16="http://schemas.microsoft.com/office/drawing/2014/main" id="{C3D70C94-0035-F257-5B6A-B248ECCD9742}"/>
              </a:ext>
            </a:extLst>
          </p:cNvPr>
          <p:cNvSpPr>
            <a:spLocks noGrp="1"/>
          </p:cNvSpPr>
          <p:nvPr>
            <p:ph idx="1"/>
          </p:nvPr>
        </p:nvSpPr>
        <p:spPr>
          <a:xfrm>
            <a:off x="914401" y="3487584"/>
            <a:ext cx="6925665" cy="4020570"/>
          </a:xfrm>
        </p:spPr>
        <p:txBody>
          <a:bodyPr vert="horz" lIns="91440" tIns="45720" rIns="91440" bIns="45720" rtlCol="0" anchor="t">
            <a:normAutofit/>
          </a:bodyPr>
          <a:lstStyle/>
          <a:p>
            <a:r>
              <a:rPr lang="en-US">
                <a:latin typeface="Garamond"/>
                <a:ea typeface="+mn-lt"/>
                <a:cs typeface="+mn-lt"/>
              </a:rPr>
              <a:t>Prompts user for current price of the asset.</a:t>
            </a:r>
          </a:p>
          <a:p>
            <a:r>
              <a:rPr lang="en-US">
                <a:latin typeface="Garamond"/>
                <a:ea typeface="+mn-lt"/>
                <a:cs typeface="+mn-lt"/>
              </a:rPr>
              <a:t>Calculates the price range (70% to 130% of the current price).</a:t>
            </a:r>
          </a:p>
          <a:p>
            <a:r>
              <a:rPr lang="en-US">
                <a:latin typeface="Garamond"/>
                <a:ea typeface="+mn-lt"/>
                <a:cs typeface="+mn-lt"/>
              </a:rPr>
              <a:t>Generates 400 price points within that range using NumPy’s </a:t>
            </a:r>
            <a:r>
              <a:rPr lang="en-US" err="1">
                <a:latin typeface="Garamond"/>
              </a:rPr>
              <a:t>linspace</a:t>
            </a:r>
            <a:r>
              <a:rPr lang="en-US">
                <a:latin typeface="Garamond"/>
                <a:ea typeface="+mn-lt"/>
                <a:cs typeface="+mn-lt"/>
              </a:rPr>
              <a:t>.</a:t>
            </a:r>
          </a:p>
          <a:p>
            <a:endParaRPr lang="en-US">
              <a:latin typeface="Garamond"/>
            </a:endParaRPr>
          </a:p>
        </p:txBody>
      </p:sp>
      <p:sp>
        <p:nvSpPr>
          <p:cNvPr id="20" name="Text Placeholder 3">
            <a:extLst>
              <a:ext uri="{FF2B5EF4-FFF2-40B4-BE49-F238E27FC236}">
                <a16:creationId xmlns:a16="http://schemas.microsoft.com/office/drawing/2014/main" id="{88FF0EFF-DAD9-691F-C16F-3796DB3AD49A}"/>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3215457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A1963-0E26-5F0B-A5E9-8E1572062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33C89-B0B4-2A44-A8FB-0965B758CF52}"/>
              </a:ext>
            </a:extLst>
          </p:cNvPr>
          <p:cNvSpPr>
            <a:spLocks noGrp="1"/>
          </p:cNvSpPr>
          <p:nvPr>
            <p:ph type="title"/>
          </p:nvPr>
        </p:nvSpPr>
        <p:spPr/>
        <p:txBody>
          <a:bodyPr/>
          <a:lstStyle/>
          <a:p>
            <a:r>
              <a:rPr lang="en-US"/>
              <a:t>Limitations &amp; Improvements</a:t>
            </a:r>
          </a:p>
        </p:txBody>
      </p:sp>
      <p:sp>
        <p:nvSpPr>
          <p:cNvPr id="6" name="Rectangle 5">
            <a:extLst>
              <a:ext uri="{FF2B5EF4-FFF2-40B4-BE49-F238E27FC236}">
                <a16:creationId xmlns:a16="http://schemas.microsoft.com/office/drawing/2014/main" id="{19C0C2A4-B9F7-E6DA-8F86-518A522F81E3}"/>
              </a:ext>
            </a:extLst>
          </p:cNvPr>
          <p:cNvSpPr/>
          <p:nvPr/>
        </p:nvSpPr>
        <p:spPr>
          <a:xfrm>
            <a:off x="914399" y="2832410"/>
            <a:ext cx="22570065" cy="737952"/>
          </a:xfrm>
          <a:prstGeom prst="rect">
            <a:avLst/>
          </a:prstGeom>
          <a:solidFill>
            <a:srgbClr val="0C1542"/>
          </a:solidFill>
          <a:ln>
            <a:solidFill>
              <a:srgbClr val="0C15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Garamond" panose="02020404030301010803" pitchFamily="18" charset="0"/>
              </a:rPr>
              <a:t>Description</a:t>
            </a:r>
          </a:p>
        </p:txBody>
      </p:sp>
      <p:sp>
        <p:nvSpPr>
          <p:cNvPr id="10" name="Content Placeholder 9">
            <a:extLst>
              <a:ext uri="{FF2B5EF4-FFF2-40B4-BE49-F238E27FC236}">
                <a16:creationId xmlns:a16="http://schemas.microsoft.com/office/drawing/2014/main" id="{7AC75675-1F77-7640-A3E2-A5320BAFEB6C}"/>
              </a:ext>
            </a:extLst>
          </p:cNvPr>
          <p:cNvSpPr>
            <a:spLocks noGrp="1"/>
          </p:cNvSpPr>
          <p:nvPr>
            <p:ph idx="1"/>
          </p:nvPr>
        </p:nvSpPr>
        <p:spPr/>
        <p:txBody>
          <a:bodyPr vert="horz" lIns="91440" tIns="45720" rIns="91440" bIns="45720" rtlCol="0" anchor="t">
            <a:normAutofit/>
          </a:bodyPr>
          <a:lstStyle/>
          <a:p>
            <a:r>
              <a:rPr lang="en-US">
                <a:latin typeface="Garamond"/>
              </a:rPr>
              <a:t>Purpose of the Model</a:t>
            </a:r>
          </a:p>
          <a:p>
            <a:pPr lvl="1"/>
            <a:r>
              <a:rPr lang="en-US" sz="2800">
                <a:latin typeface="Garamond"/>
              </a:rPr>
              <a:t>Illustrates possible outcomes, not intended to be used as a predictive tool </a:t>
            </a:r>
          </a:p>
          <a:p>
            <a:pPr lvl="1"/>
            <a:r>
              <a:rPr lang="en-US" sz="2800">
                <a:latin typeface="Garamond"/>
              </a:rPr>
              <a:t>Aimed to help understand rather than forecast market behavior</a:t>
            </a:r>
          </a:p>
          <a:p>
            <a:r>
              <a:rPr lang="en-US">
                <a:latin typeface="Garamond"/>
              </a:rPr>
              <a:t>Visualizations and Modeling</a:t>
            </a:r>
          </a:p>
          <a:p>
            <a:pPr lvl="1"/>
            <a:r>
              <a:rPr lang="en-US" sz="2800">
                <a:latin typeface="Garamond"/>
              </a:rPr>
              <a:t>Effectively visualized potential profits based on price changes in the underlying security</a:t>
            </a:r>
          </a:p>
          <a:p>
            <a:pPr lvl="1"/>
            <a:r>
              <a:rPr lang="en-US" sz="2800">
                <a:latin typeface="Garamond"/>
              </a:rPr>
              <a:t>Helped understand the return in correlation to the risk</a:t>
            </a:r>
          </a:p>
          <a:p>
            <a:r>
              <a:rPr lang="en-US">
                <a:latin typeface="Garamond"/>
              </a:rPr>
              <a:t>Limitations</a:t>
            </a:r>
          </a:p>
          <a:p>
            <a:pPr lvl="1"/>
            <a:r>
              <a:rPr lang="en-US" sz="2800">
                <a:latin typeface="Garamond"/>
              </a:rPr>
              <a:t>Cannot make probability-based predictions</a:t>
            </a:r>
          </a:p>
          <a:p>
            <a:r>
              <a:rPr lang="en-US">
                <a:latin typeface="Garamond"/>
              </a:rPr>
              <a:t>Improvements</a:t>
            </a:r>
          </a:p>
          <a:p>
            <a:pPr lvl="1"/>
            <a:r>
              <a:rPr lang="en-US" sz="2800">
                <a:latin typeface="Garamond"/>
                <a:ea typeface="+mn-lt"/>
                <a:cs typeface="+mn-lt"/>
              </a:rPr>
              <a:t>The models could be streamlined by consolidating functions and inputs into one code, enabling strategy selection without switching sections and reducing redundancy.</a:t>
            </a:r>
          </a:p>
          <a:p>
            <a:pPr lvl="1"/>
            <a:endParaRPr lang="en-US" sz="2800">
              <a:latin typeface="Garamond" panose="02020404030301010803" pitchFamily="18" charset="0"/>
            </a:endParaRPr>
          </a:p>
          <a:p>
            <a:pPr lvl="1"/>
            <a:endParaRPr lang="en-US" sz="2800">
              <a:latin typeface="Garamond" panose="02020404030301010803" pitchFamily="18" charset="0"/>
            </a:endParaRPr>
          </a:p>
          <a:p>
            <a:pPr lvl="1"/>
            <a:endParaRPr lang="en-US" sz="2800">
              <a:latin typeface="Garamond" panose="02020404030301010803" pitchFamily="18" charset="0"/>
            </a:endParaRPr>
          </a:p>
        </p:txBody>
      </p:sp>
      <p:sp>
        <p:nvSpPr>
          <p:cNvPr id="7" name="Text Placeholder 3">
            <a:extLst>
              <a:ext uri="{FF2B5EF4-FFF2-40B4-BE49-F238E27FC236}">
                <a16:creationId xmlns:a16="http://schemas.microsoft.com/office/drawing/2014/main" id="{0BAAADB8-A761-2762-8935-097DEDBED48C}"/>
              </a:ext>
            </a:extLst>
          </p:cNvPr>
          <p:cNvSpPr txBox="1">
            <a:spLocks/>
          </p:cNvSpPr>
          <p:nvPr/>
        </p:nvSpPr>
        <p:spPr>
          <a:xfrm>
            <a:off x="914399" y="685800"/>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726778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A4B0DC0-A1DE-D066-C3B4-44CA3F39565B}"/>
              </a:ext>
            </a:extLst>
          </p:cNvPr>
          <p:cNvSpPr>
            <a:spLocks noGrp="1"/>
          </p:cNvSpPr>
          <p:nvPr>
            <p:ph type="title"/>
          </p:nvPr>
        </p:nvSpPr>
        <p:spPr>
          <a:xfrm>
            <a:off x="929313" y="3266367"/>
            <a:ext cx="22525374" cy="4648201"/>
          </a:xfrm>
        </p:spPr>
        <p:txBody>
          <a:bodyPr/>
          <a:lstStyle/>
          <a:p>
            <a:r>
              <a:rPr lang="en-US"/>
              <a:t>Q&amp;A</a:t>
            </a:r>
          </a:p>
        </p:txBody>
      </p:sp>
    </p:spTree>
    <p:extLst>
      <p:ext uri="{BB962C8B-B14F-4D97-AF65-F5344CB8AC3E}">
        <p14:creationId xmlns:p14="http://schemas.microsoft.com/office/powerpoint/2010/main" val="259058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38750-0B91-E1B8-A342-EDCCDDE194E6}"/>
              </a:ext>
            </a:extLst>
          </p:cNvPr>
          <p:cNvSpPr>
            <a:spLocks noGrp="1"/>
          </p:cNvSpPr>
          <p:nvPr>
            <p:ph type="title"/>
          </p:nvPr>
        </p:nvSpPr>
        <p:spPr>
          <a:xfrm>
            <a:off x="914399" y="1585913"/>
            <a:ext cx="21031201" cy="1371600"/>
          </a:xfrm>
        </p:spPr>
        <p:txBody>
          <a:bodyPr/>
          <a:lstStyle/>
          <a:p>
            <a:r>
              <a:rPr lang="en-US">
                <a:latin typeface="Garamond" panose="02020404030301010803" pitchFamily="18" charset="0"/>
                <a:cs typeface="Poppins SemiBold"/>
              </a:rPr>
              <a:t>Sources</a:t>
            </a:r>
            <a:endParaRPr lang="en-US">
              <a:latin typeface="Garamond" panose="02020404030301010803" pitchFamily="18" charset="0"/>
            </a:endParaRPr>
          </a:p>
        </p:txBody>
      </p:sp>
      <p:sp>
        <p:nvSpPr>
          <p:cNvPr id="3" name="Content Placeholder 2">
            <a:extLst>
              <a:ext uri="{FF2B5EF4-FFF2-40B4-BE49-F238E27FC236}">
                <a16:creationId xmlns:a16="http://schemas.microsoft.com/office/drawing/2014/main" id="{E4609424-D2F0-FE56-D0C3-FB2E45CA7ACC}"/>
              </a:ext>
            </a:extLst>
          </p:cNvPr>
          <p:cNvSpPr>
            <a:spLocks noGrp="1"/>
          </p:cNvSpPr>
          <p:nvPr>
            <p:ph idx="1"/>
          </p:nvPr>
        </p:nvSpPr>
        <p:spPr/>
        <p:txBody>
          <a:bodyPr vert="horz" lIns="91440" tIns="45720" rIns="91440" bIns="45720" rtlCol="0" anchor="t">
            <a:normAutofit/>
          </a:bodyPr>
          <a:lstStyle/>
          <a:p>
            <a:r>
              <a:rPr lang="en-US">
                <a:latin typeface="Garamond" panose="02020404030301010803" pitchFamily="18" charset="0"/>
                <a:cs typeface="Poppins"/>
                <a:hlinkClick r:id="rId2"/>
              </a:rPr>
              <a:t>https://www.investopedia.com/terms/c/calloption.asp</a:t>
            </a:r>
            <a:endParaRPr lang="en-US">
              <a:latin typeface="Garamond" panose="02020404030301010803" pitchFamily="18" charset="0"/>
            </a:endParaRPr>
          </a:p>
          <a:p>
            <a:r>
              <a:rPr lang="en-US">
                <a:latin typeface="Garamond" panose="02020404030301010803" pitchFamily="18" charset="0"/>
                <a:cs typeface="Poppins"/>
                <a:hlinkClick r:id="rId3"/>
              </a:rPr>
              <a:t>https://www.investopedia.com/terms/p/putoption.asp</a:t>
            </a:r>
            <a:endParaRPr lang="en-US">
              <a:latin typeface="Garamond" panose="02020404030301010803" pitchFamily="18" charset="0"/>
              <a:hlinkClick r:id="rId3"/>
            </a:endParaRPr>
          </a:p>
          <a:p>
            <a:r>
              <a:rPr lang="en-US">
                <a:latin typeface="Garamond" panose="02020404030301010803" pitchFamily="18" charset="0"/>
                <a:cs typeface="Poppins"/>
                <a:hlinkClick r:id="rId4"/>
              </a:rPr>
              <a:t>https://www.investopedia.com/terms/c/coveredcall.asp</a:t>
            </a:r>
            <a:endParaRPr lang="en-US">
              <a:latin typeface="Garamond" panose="02020404030301010803" pitchFamily="18" charset="0"/>
              <a:hlinkClick r:id="rId4"/>
            </a:endParaRPr>
          </a:p>
          <a:p>
            <a:r>
              <a:rPr lang="en-US">
                <a:latin typeface="Garamond" panose="02020404030301010803" pitchFamily="18" charset="0"/>
                <a:cs typeface="Poppins"/>
                <a:hlinkClick r:id="rId5"/>
              </a:rPr>
              <a:t>https://www.tastylive.com/concepts-strategies/vertical-spread</a:t>
            </a:r>
            <a:endParaRPr lang="en-US">
              <a:latin typeface="Garamond" panose="02020404030301010803" pitchFamily="18" charset="0"/>
              <a:hlinkClick r:id="rId5"/>
            </a:endParaRPr>
          </a:p>
          <a:p>
            <a:r>
              <a:rPr lang="en-US">
                <a:latin typeface="Garamond" panose="02020404030301010803" pitchFamily="18" charset="0"/>
                <a:cs typeface="Poppins"/>
                <a:hlinkClick r:id="rId6"/>
              </a:rPr>
              <a:t>https://www.investopedia.com/terms/s/straddle.asp</a:t>
            </a:r>
            <a:endParaRPr lang="en-US">
              <a:latin typeface="Garamond" panose="02020404030301010803" pitchFamily="18" charset="0"/>
              <a:hlinkClick r:id="rId6"/>
            </a:endParaRPr>
          </a:p>
          <a:p>
            <a:r>
              <a:rPr lang="en-US">
                <a:latin typeface="Garamond" panose="02020404030301010803" pitchFamily="18" charset="0"/>
                <a:cs typeface="Poppins"/>
                <a:hlinkClick r:id="rId7"/>
              </a:rPr>
              <a:t>https://www.euronext.com/en/news/what-long-straddle</a:t>
            </a:r>
            <a:endParaRPr lang="en-US">
              <a:latin typeface="Garamond" panose="02020404030301010803" pitchFamily="18" charset="0"/>
              <a:hlinkClick r:id="rId7"/>
            </a:endParaRPr>
          </a:p>
          <a:p>
            <a:r>
              <a:rPr lang="en-US">
                <a:latin typeface="Garamond" panose="02020404030301010803" pitchFamily="18" charset="0"/>
                <a:cs typeface="Poppins"/>
                <a:hlinkClick r:id="rId8"/>
              </a:rPr>
              <a:t>https://www.pyquantnews.com/topics/options-trading-with-python</a:t>
            </a:r>
            <a:endParaRPr lang="en-US">
              <a:latin typeface="Garamond" panose="02020404030301010803" pitchFamily="18" charset="0"/>
              <a:hlinkClick r:id="rId8"/>
            </a:endParaRPr>
          </a:p>
          <a:p>
            <a:endParaRPr lang="en-US">
              <a:latin typeface="Garamond" panose="02020404030301010803" pitchFamily="18" charset="0"/>
            </a:endParaRPr>
          </a:p>
        </p:txBody>
      </p:sp>
      <p:sp>
        <p:nvSpPr>
          <p:cNvPr id="5" name="Slide Number Placeholder 4">
            <a:extLst>
              <a:ext uri="{FF2B5EF4-FFF2-40B4-BE49-F238E27FC236}">
                <a16:creationId xmlns:a16="http://schemas.microsoft.com/office/drawing/2014/main" id="{E700B191-C6A5-6DA0-D15B-23B238815BE3}"/>
              </a:ext>
            </a:extLst>
          </p:cNvPr>
          <p:cNvSpPr>
            <a:spLocks noGrp="1"/>
          </p:cNvSpPr>
          <p:nvPr>
            <p:ph type="sldNum" sz="quarter" idx="2"/>
          </p:nvPr>
        </p:nvSpPr>
        <p:spPr/>
        <p:txBody>
          <a:bodyPr/>
          <a:lstStyle/>
          <a:p>
            <a:fld id="{86CB4B4D-7CA3-9044-876B-883B54F8677D}" type="slidenum">
              <a:rPr lang="en-US" smtClean="0"/>
              <a:pPr/>
              <a:t>21</a:t>
            </a:fld>
            <a:endParaRPr lang="en-US"/>
          </a:p>
        </p:txBody>
      </p:sp>
      <p:sp>
        <p:nvSpPr>
          <p:cNvPr id="6" name="Text Placeholder 3">
            <a:extLst>
              <a:ext uri="{FF2B5EF4-FFF2-40B4-BE49-F238E27FC236}">
                <a16:creationId xmlns:a16="http://schemas.microsoft.com/office/drawing/2014/main" id="{35D3DBA0-623A-BCE1-F360-B6F07A6719BD}"/>
              </a:ext>
            </a:extLst>
          </p:cNvPr>
          <p:cNvSpPr txBox="1">
            <a:spLocks/>
          </p:cNvSpPr>
          <p:nvPr/>
        </p:nvSpPr>
        <p:spPr>
          <a:xfrm>
            <a:off x="914399" y="928688"/>
            <a:ext cx="6741459" cy="457200"/>
          </a:xfrm>
          <a:prstGeom prst="rect">
            <a:avLst/>
          </a:prstGeom>
        </p:spPr>
        <p:txBody>
          <a:bodyPr lIns="91440" tIns="45720" rIns="91440" bIns="45720" anchor="t"/>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215F9A"/>
                </a:solidFill>
                <a:latin typeface="Inter"/>
                <a:cs typeface="Poppins"/>
              </a:rPr>
              <a:t>Payoff Tool Presentation</a:t>
            </a:r>
            <a:endParaRPr lang="en-US" err="1">
              <a:solidFill>
                <a:srgbClr val="215F9A"/>
              </a:solidFill>
            </a:endParaRPr>
          </a:p>
        </p:txBody>
      </p:sp>
    </p:spTree>
    <p:extLst>
      <p:ext uri="{BB962C8B-B14F-4D97-AF65-F5344CB8AC3E}">
        <p14:creationId xmlns:p14="http://schemas.microsoft.com/office/powerpoint/2010/main" val="2128517426"/>
      </p:ext>
    </p:extLst>
  </p:cSld>
  <p:clrMapOvr>
    <a:masterClrMapping/>
  </p:clrMapOvr>
</p:sld>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3210bf8-3a6f-4dc2-a157-4e9569e03b8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327E4F44C96648B593329766977C90" ma:contentTypeVersion="6" ma:contentTypeDescription="Create a new document." ma:contentTypeScope="" ma:versionID="bee15f000f04fc80d6dfda52e9d339c6">
  <xsd:schema xmlns:xsd="http://www.w3.org/2001/XMLSchema" xmlns:xs="http://www.w3.org/2001/XMLSchema" xmlns:p="http://schemas.microsoft.com/office/2006/metadata/properties" xmlns:ns3="93210bf8-3a6f-4dc2-a157-4e9569e03b80" targetNamespace="http://schemas.microsoft.com/office/2006/metadata/properties" ma:root="true" ma:fieldsID="14f25f0faf6a4883dbc643b9ee51bb4b" ns3:_="">
    <xsd:import namespace="93210bf8-3a6f-4dc2-a157-4e9569e03b8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10bf8-3a6f-4dc2-a157-4e9569e03b8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79851F-D594-4436-AA2A-42EDEC9C9E16}">
  <ds:schemaRefs>
    <ds:schemaRef ds:uri="93210bf8-3a6f-4dc2-a157-4e9569e03b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BADD460-6E7B-447D-965A-9247448391A5}">
  <ds:schemaRefs>
    <ds:schemaRef ds:uri="http://schemas.microsoft.com/sharepoint/v3/contenttype/forms"/>
  </ds:schemaRefs>
</ds:datastoreItem>
</file>

<file path=customXml/itemProps3.xml><?xml version="1.0" encoding="utf-8"?>
<ds:datastoreItem xmlns:ds="http://schemas.openxmlformats.org/officeDocument/2006/customXml" ds:itemID="{E39CF203-E062-4EF6-9C7C-8D02A0DA2761}">
  <ds:schemaRefs>
    <ds:schemaRef ds:uri="93210bf8-3a6f-4dc2-a157-4e9569e03b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 TradersAtSMU Template</Template>
  <TotalTime>0</TotalTime>
  <Words>2514</Words>
  <Application>Microsoft Office PowerPoint</Application>
  <PresentationFormat>Custom</PresentationFormat>
  <Paragraphs>205</Paragraphs>
  <Slides>21</Slides>
  <Notes>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21</vt:i4>
      </vt:variant>
    </vt:vector>
  </HeadingPairs>
  <TitlesOfParts>
    <vt:vector size="33" baseType="lpstr">
      <vt:lpstr>Aptos</vt:lpstr>
      <vt:lpstr>Arial</vt:lpstr>
      <vt:lpstr>Garamond</vt:lpstr>
      <vt:lpstr>Helvetica Neue</vt:lpstr>
      <vt:lpstr>Helvetica Neue Medium</vt:lpstr>
      <vt:lpstr>Inter</vt:lpstr>
      <vt:lpstr>Poppins</vt:lpstr>
      <vt:lpstr>Poppins Medium</vt:lpstr>
      <vt:lpstr>Covers</vt:lpstr>
      <vt:lpstr>Content</vt:lpstr>
      <vt:lpstr>Sections</vt:lpstr>
      <vt:lpstr>Closing</vt:lpstr>
      <vt:lpstr>Options Payoff Visualization Tool</vt:lpstr>
      <vt:lpstr>Agenda</vt:lpstr>
      <vt:lpstr>Introduction &amp; Objective</vt:lpstr>
      <vt:lpstr>The Importance of Visualization</vt:lpstr>
      <vt:lpstr>Libraries Used</vt:lpstr>
      <vt:lpstr>Code for Calls/Puts</vt:lpstr>
      <vt:lpstr>Code for Calls/Puts</vt:lpstr>
      <vt:lpstr>Output</vt:lpstr>
      <vt:lpstr>Option Greeks</vt:lpstr>
      <vt:lpstr>Long Straddle</vt:lpstr>
      <vt:lpstr>Short Straddle</vt:lpstr>
      <vt:lpstr>Code for Straddle</vt:lpstr>
      <vt:lpstr>Covered Call</vt:lpstr>
      <vt:lpstr>Covered Call Code</vt:lpstr>
      <vt:lpstr>Vertical Spread</vt:lpstr>
      <vt:lpstr>Code for Vertical Spread</vt:lpstr>
      <vt:lpstr>Code for Vertical Spread</vt:lpstr>
      <vt:lpstr>Code for Vertical Spread</vt:lpstr>
      <vt:lpstr>Limitations &amp; Improvements</vt:lpstr>
      <vt:lpstr>Q&amp;A</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Terayama, Dylan</dc:creator>
  <cp:lastModifiedBy>Grant Simon</cp:lastModifiedBy>
  <cp:revision>60</cp:revision>
  <dcterms:created xsi:type="dcterms:W3CDTF">2025-04-25T02:39:24Z</dcterms:created>
  <dcterms:modified xsi:type="dcterms:W3CDTF">2025-04-30T21:14:04Z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0x01010084327E4F44C96648B593329766977C90</vt:lpwstr>
  </property>
  <property fmtid="{D5CDD505-2E9C-101B-9397-08002B2CF9AE}" pid="3" name="MediaServiceImageTags">
    <vt:lpwstr/>
  </property>
</Properties>
</file>